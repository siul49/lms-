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66" r:id="rId1"/>
    <p:sldMasterId id="2147483706" r:id="rId2"/>
    <p:sldMasterId id="2147483690" r:id="rId3"/>
    <p:sldMasterId id="2147483719" r:id="rId4"/>
  </p:sldMasterIdLst>
  <p:notesMasterIdLst>
    <p:notesMasterId r:id="rId15"/>
  </p:notesMasterIdLst>
  <p:handoutMasterIdLst>
    <p:handoutMasterId r:id="rId16"/>
  </p:handoutMasterIdLst>
  <p:sldIdLst>
    <p:sldId id="3888" r:id="rId5"/>
    <p:sldId id="3892" r:id="rId6"/>
    <p:sldId id="3893" r:id="rId7"/>
    <p:sldId id="3894" r:id="rId8"/>
    <p:sldId id="3895" r:id="rId9"/>
    <p:sldId id="3896" r:id="rId10"/>
    <p:sldId id="3910" r:id="rId11"/>
    <p:sldId id="3912" r:id="rId12"/>
    <p:sldId id="3913" r:id="rId13"/>
    <p:sldId id="3865" r:id="rId14"/>
  </p:sldIdLst>
  <p:sldSz cx="12192000" cy="6858000"/>
  <p:notesSz cx="6802438" cy="9934575"/>
  <p:defaultTextStyle>
    <a:defPPr>
      <a:defRPr lang="en-GB"/>
    </a:defPPr>
    <a:lvl1pPr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33" userDrawn="1">
          <p15:clr>
            <a:srgbClr val="A4A3A4"/>
          </p15:clr>
        </p15:guide>
        <p15:guide id="2" orient="horz" pos="3997" userDrawn="1">
          <p15:clr>
            <a:srgbClr val="A4A3A4"/>
          </p15:clr>
        </p15:guide>
        <p15:guide id="3" orient="horz" pos="3339" userDrawn="1">
          <p15:clr>
            <a:srgbClr val="A4A3A4"/>
          </p15:clr>
        </p15:guide>
        <p15:guide id="4" orient="horz" pos="3158" userDrawn="1">
          <p15:clr>
            <a:srgbClr val="A4A3A4"/>
          </p15:clr>
        </p15:guide>
        <p15:guide id="5" orient="horz" pos="1071" userDrawn="1">
          <p15:clr>
            <a:srgbClr val="A4A3A4"/>
          </p15:clr>
        </p15:guide>
        <p15:guide id="6" pos="490" userDrawn="1">
          <p15:clr>
            <a:srgbClr val="A4A3A4"/>
          </p15:clr>
        </p15:guide>
        <p15:guide id="7" pos="7358" userDrawn="1">
          <p15:clr>
            <a:srgbClr val="A4A3A4"/>
          </p15:clr>
        </p15:guide>
        <p15:guide id="8" pos="7190" userDrawn="1">
          <p15:clr>
            <a:srgbClr val="A4A3A4"/>
          </p15:clr>
        </p15:guide>
        <p15:guide id="9" pos="322" userDrawn="1">
          <p15:clr>
            <a:srgbClr val="A4A3A4"/>
          </p15:clr>
        </p15:guide>
        <p15:guide id="10" pos="1077" userDrawn="1">
          <p15:clr>
            <a:srgbClr val="A4A3A4"/>
          </p15:clr>
        </p15:guide>
        <p15:guide id="11" pos="5013" userDrawn="1">
          <p15:clr>
            <a:srgbClr val="A4A3A4"/>
          </p15:clr>
        </p15:guide>
        <p15:guide id="12" pos="993" userDrawn="1">
          <p15:clr>
            <a:srgbClr val="A4A3A4"/>
          </p15:clr>
        </p15:guide>
        <p15:guide id="13" pos="2640" userDrawn="1">
          <p15:clr>
            <a:srgbClr val="A4A3A4"/>
          </p15:clr>
        </p15:guide>
        <p15:guide id="14" pos="2695" userDrawn="1">
          <p15:clr>
            <a:srgbClr val="A4A3A4"/>
          </p15:clr>
        </p15:guide>
        <p15:guide id="15" pos="50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C00CC"/>
    <a:srgbClr val="FF9900"/>
    <a:srgbClr val="CC0066"/>
    <a:srgbClr val="CCCC00"/>
    <a:srgbClr val="990033"/>
    <a:srgbClr val="FFCCCC"/>
    <a:srgbClr val="00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6521" autoAdjust="0"/>
  </p:normalViewPr>
  <p:slideViewPr>
    <p:cSldViewPr snapToObjects="1">
      <p:cViewPr varScale="1">
        <p:scale>
          <a:sx n="99" d="100"/>
          <a:sy n="99" d="100"/>
        </p:scale>
        <p:origin x="198" y="78"/>
      </p:cViewPr>
      <p:guideLst>
        <p:guide orient="horz" pos="4133"/>
        <p:guide orient="horz" pos="3997"/>
        <p:guide orient="horz" pos="3339"/>
        <p:guide orient="horz" pos="3158"/>
        <p:guide orient="horz" pos="1071"/>
        <p:guide pos="490"/>
        <p:guide pos="7358"/>
        <p:guide pos="7190"/>
        <p:guide pos="322"/>
        <p:guide pos="1077"/>
        <p:guide pos="5013"/>
        <p:guide pos="993"/>
        <p:guide pos="2640"/>
        <p:guide pos="2695"/>
        <p:guide pos="50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13350"/>
    </p:cViewPr>
  </p:sorterViewPr>
  <p:notesViewPr>
    <p:cSldViewPr snapToObjects="1">
      <p:cViewPr varScale="1">
        <p:scale>
          <a:sx n="51" d="100"/>
          <a:sy n="51" d="100"/>
        </p:scale>
        <p:origin x="-3018" y="-84"/>
      </p:cViewPr>
      <p:guideLst>
        <p:guide orient="horz" pos="3128"/>
        <p:guide pos="214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641" cy="49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70" tIns="46785" rIns="93570" bIns="46785" numCol="1" anchor="t" anchorCtr="0" compatLnSpc="1">
            <a:prstTxWarp prst="textNoShape">
              <a:avLst/>
            </a:prstTxWarp>
          </a:bodyPr>
          <a:lstStyle>
            <a:lvl1pPr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3798" y="0"/>
            <a:ext cx="2948641" cy="49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70" tIns="46785" rIns="93570" bIns="46785" numCol="1" anchor="t" anchorCtr="0" compatLnSpc="1">
            <a:prstTxWarp prst="textNoShape">
              <a:avLst/>
            </a:prstTxWarp>
          </a:bodyPr>
          <a:lstStyle>
            <a:lvl1pPr algn="r"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7371"/>
            <a:ext cx="2948641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70" tIns="46785" rIns="93570" bIns="46785" numCol="1" anchor="b" anchorCtr="0" compatLnSpc="1">
            <a:prstTxWarp prst="textNoShape">
              <a:avLst/>
            </a:prstTxWarp>
          </a:bodyPr>
          <a:lstStyle>
            <a:lvl1pPr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3798" y="9437371"/>
            <a:ext cx="2948641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70" tIns="46785" rIns="93570" bIns="46785" numCol="1" anchor="b" anchorCtr="0" compatLnSpc="1">
            <a:prstTxWarp prst="textNoShape">
              <a:avLst/>
            </a:prstTxWarp>
          </a:bodyPr>
          <a:lstStyle>
            <a:lvl1pPr algn="r"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fld id="{5D7C1A12-9F61-4D34-90B7-132873DC136D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697876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641" cy="49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570" tIns="46785" rIns="93570" bIns="46785" numCol="1" anchor="ctr" anchorCtr="0" compatLnSpc="1">
            <a:prstTxWarp prst="textNoShape">
              <a:avLst/>
            </a:prstTxWarp>
          </a:bodyPr>
          <a:lstStyle>
            <a:lvl1pPr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798" y="0"/>
            <a:ext cx="2948641" cy="49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570" tIns="46785" rIns="93570" bIns="46785" numCol="1" anchor="ctr" anchorCtr="0" compatLnSpc="1">
            <a:prstTxWarp prst="textNoShape">
              <a:avLst/>
            </a:prstTxWarp>
          </a:bodyPr>
          <a:lstStyle>
            <a:lvl1pPr algn="r"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425" y="747713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76" y="4719480"/>
            <a:ext cx="4988887" cy="4468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70" tIns="46785" rIns="93570" bIns="467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noProof="0"/>
              <a:t>Click to edit Master text styles</a:t>
            </a:r>
          </a:p>
          <a:p>
            <a:pPr lvl="1"/>
            <a:r>
              <a:rPr lang="en-GB" altLang="ko-KR" noProof="0"/>
              <a:t>Second level</a:t>
            </a:r>
          </a:p>
          <a:p>
            <a:pPr lvl="2"/>
            <a:r>
              <a:rPr lang="en-GB" altLang="ko-KR" noProof="0"/>
              <a:t>Third level</a:t>
            </a:r>
          </a:p>
          <a:p>
            <a:pPr lvl="3"/>
            <a:r>
              <a:rPr lang="en-GB" altLang="ko-KR" noProof="0"/>
              <a:t>Fourth level</a:t>
            </a:r>
          </a:p>
          <a:p>
            <a:pPr lvl="4"/>
            <a:r>
              <a:rPr lang="en-GB" altLang="ko-KR" noProof="0"/>
              <a:t>Fifth level</a:t>
            </a:r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7371"/>
            <a:ext cx="2948641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570" tIns="46785" rIns="93570" bIns="46785" numCol="1" anchor="b" anchorCtr="0" compatLnSpc="1">
            <a:prstTxWarp prst="textNoShape">
              <a:avLst/>
            </a:prstTxWarp>
          </a:bodyPr>
          <a:lstStyle>
            <a:lvl1pPr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42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798" y="9437371"/>
            <a:ext cx="2948641" cy="49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570" tIns="46785" rIns="93570" bIns="46785" numCol="1" anchor="b" anchorCtr="0" compatLnSpc="1">
            <a:prstTxWarp prst="textNoShape">
              <a:avLst/>
            </a:prstTxWarp>
          </a:bodyPr>
          <a:lstStyle>
            <a:lvl1pPr algn="r" defTabSz="936315" eaLnBrk="0" latinLnBrk="0" hangingPunct="0">
              <a:lnSpc>
                <a:spcPct val="100000"/>
              </a:lnSpc>
              <a:defRPr kumimoji="0" sz="1300" b="0">
                <a:latin typeface="Arial" pitchFamily="34" charset="0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fld id="{9A375E98-0430-4696-A9A6-C0DBBA16BF5F}" type="slidenum">
              <a:rPr lang="ko-KR" altLang="en-GB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6874231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75E98-0430-4696-A9A6-C0DBBA16BF5F}" type="slidenum">
              <a:rPr lang="ko-KR" altLang="en-GB" smtClean="0"/>
              <a:pPr>
                <a:defRPr/>
              </a:pPr>
              <a:t>0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625853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86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759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03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023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72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774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206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0BD64-A421-4860-A7A3-595B719B6B0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74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7713"/>
            <a:ext cx="6615113" cy="3722687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7760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6" y="273054"/>
            <a:ext cx="6815666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6903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3403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71652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37082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00" y="274642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047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662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247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739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89785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63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693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693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314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729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110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7385" y="273051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487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431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5107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42031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3269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6313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762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247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912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89785" y="1600201"/>
            <a:ext cx="539261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958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693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693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0479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832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094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7385" y="273051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5660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232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688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42031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0423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41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386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828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151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11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660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32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425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269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601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2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-6350"/>
            <a:ext cx="12192000" cy="6864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200"/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11324493" y="6592889"/>
            <a:ext cx="865554" cy="2492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eaLnBrk="0" latinLnBrk="0" hangingPunct="0">
              <a:buFont typeface="Wingdings" pitchFamily="2" charset="2"/>
              <a:buNone/>
              <a:defRPr/>
            </a:pPr>
            <a:r>
              <a:rPr kumimoji="0" lang="ko-KR" altLang="en-US" sz="1200" i="1">
                <a:solidFill>
                  <a:srgbClr val="0033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rebuchet MS" pitchFamily="34" charset="0"/>
                <a:ea typeface="가는각진제목체" pitchFamily="18" charset="-127"/>
              </a:rPr>
              <a:t> </a:t>
            </a:r>
            <a:fld id="{241F70E9-BE78-4A21-B79C-D010062AFBE2}" type="slidenum">
              <a:rPr kumimoji="0" lang="ko-KR" altLang="ko-KR" sz="1200" i="1">
                <a:solidFill>
                  <a:srgbClr val="0033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rebuchet MS" pitchFamily="34" charset="0"/>
                <a:ea typeface="가는각진제목체" pitchFamily="18" charset="-127"/>
              </a:rPr>
              <a:pPr eaLnBrk="0" latinLnBrk="0" hangingPunct="0">
                <a:buFont typeface="Wingdings" pitchFamily="2" charset="2"/>
                <a:buNone/>
                <a:defRPr/>
              </a:pPr>
              <a:t>‹#›</a:t>
            </a:fld>
            <a:r>
              <a:rPr kumimoji="0" lang="en-US" altLang="ko-KR" sz="1200" i="1">
                <a:solidFill>
                  <a:srgbClr val="0033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rebuchet MS" pitchFamily="34" charset="0"/>
                <a:ea typeface="가는각진제목체" pitchFamily="18" charset="-127"/>
              </a:rPr>
              <a:t> </a:t>
            </a:r>
            <a:endParaRPr kumimoji="0" lang="ko-KR" altLang="ko-KR" sz="1200" i="1">
              <a:solidFill>
                <a:srgbClr val="0033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rebuchet MS" pitchFamily="34" charset="0"/>
              <a:ea typeface="가는각진제목체" pitchFamily="18" charset="-127"/>
            </a:endParaRPr>
          </a:p>
        </p:txBody>
      </p:sp>
      <p:grpSp>
        <p:nvGrpSpPr>
          <p:cNvPr id="2052" name="Group 17"/>
          <p:cNvGrpSpPr>
            <a:grpSpLocks/>
          </p:cNvGrpSpPr>
          <p:nvPr/>
        </p:nvGrpSpPr>
        <p:grpSpPr bwMode="auto">
          <a:xfrm>
            <a:off x="10748109" y="6667501"/>
            <a:ext cx="541215" cy="112713"/>
            <a:chOff x="5184" y="4194"/>
            <a:chExt cx="256" cy="77"/>
          </a:xfrm>
        </p:grpSpPr>
        <p:sp>
          <p:nvSpPr>
            <p:cNvPr id="2057" name="Rectangle 18"/>
            <p:cNvSpPr>
              <a:spLocks noChangeArrowheads="1"/>
            </p:cNvSpPr>
            <p:nvPr userDrawn="1"/>
          </p:nvSpPr>
          <p:spPr bwMode="auto">
            <a:xfrm>
              <a:off x="5184" y="4194"/>
              <a:ext cx="85" cy="77"/>
            </a:xfrm>
            <a:prstGeom prst="rect">
              <a:avLst/>
            </a:prstGeom>
            <a:solidFill>
              <a:srgbClr val="90BF2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sz="1200"/>
            </a:p>
          </p:txBody>
        </p:sp>
        <p:sp>
          <p:nvSpPr>
            <p:cNvPr id="2058" name="Rectangle 19"/>
            <p:cNvSpPr>
              <a:spLocks noChangeArrowheads="1"/>
            </p:cNvSpPr>
            <p:nvPr userDrawn="1"/>
          </p:nvSpPr>
          <p:spPr bwMode="auto">
            <a:xfrm>
              <a:off x="5269" y="4194"/>
              <a:ext cx="86" cy="77"/>
            </a:xfrm>
            <a:prstGeom prst="rect">
              <a:avLst/>
            </a:prstGeom>
            <a:solidFill>
              <a:srgbClr val="0066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sz="1200"/>
            </a:p>
          </p:txBody>
        </p:sp>
        <p:sp>
          <p:nvSpPr>
            <p:cNvPr id="2059" name="Rectangle 20"/>
            <p:cNvSpPr>
              <a:spLocks noChangeArrowheads="1"/>
            </p:cNvSpPr>
            <p:nvPr userDrawn="1"/>
          </p:nvSpPr>
          <p:spPr bwMode="auto">
            <a:xfrm>
              <a:off x="5355" y="4194"/>
              <a:ext cx="85" cy="77"/>
            </a:xfrm>
            <a:prstGeom prst="rect">
              <a:avLst/>
            </a:prstGeom>
            <a:solidFill>
              <a:srgbClr val="00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sz="1200"/>
            </a:p>
          </p:txBody>
        </p:sp>
      </p:grpSp>
      <p:pic>
        <p:nvPicPr>
          <p:cNvPr id="2053" name="Picture 21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908" y="-9525"/>
            <a:ext cx="758092" cy="67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22" descr="P6 copy"/>
          <p:cNvPicPr>
            <a:picLocks noChangeAspect="1" noChangeArrowheads="1"/>
          </p:cNvPicPr>
          <p:nvPr/>
        </p:nvPicPr>
        <p:blipFill>
          <a:blip r:embed="rId16" cstate="print"/>
          <a:srcRect l="4930" r="6024" b="46428"/>
          <a:stretch>
            <a:fillRect/>
          </a:stretch>
        </p:blipFill>
        <p:spPr bwMode="auto">
          <a:xfrm>
            <a:off x="0" y="666751"/>
            <a:ext cx="12186139" cy="7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5" name="Rectangle 25"/>
          <p:cNvSpPr>
            <a:spLocks noChangeArrowheads="1"/>
          </p:cNvSpPr>
          <p:nvPr/>
        </p:nvSpPr>
        <p:spPr bwMode="auto">
          <a:xfrm>
            <a:off x="1824892" y="5121276"/>
            <a:ext cx="1101969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200"/>
          </a:p>
        </p:txBody>
      </p:sp>
      <p:sp>
        <p:nvSpPr>
          <p:cNvPr id="2056" name="Rectangle 26"/>
          <p:cNvSpPr>
            <a:spLocks noChangeArrowheads="1"/>
          </p:cNvSpPr>
          <p:nvPr/>
        </p:nvSpPr>
        <p:spPr bwMode="auto">
          <a:xfrm>
            <a:off x="144585" y="6403976"/>
            <a:ext cx="1101969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702" r:id="rId9"/>
    <p:sldLayoutId id="2147483703" r:id="rId10"/>
    <p:sldLayoutId id="2147483704" r:id="rId11"/>
    <p:sldLayoutId id="2147483705" r:id="rId12"/>
    <p:sldLayoutId id="214748368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헤드라인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  <a:cs typeface="헤드라인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  <a:cs typeface="헤드라인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  <a:cs typeface="헤드라인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  <a:cs typeface="헤드라인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헤드라인" pitchFamily="18" charset="-127"/>
        </a:defRPr>
      </a:lvl9pPr>
    </p:titleStyle>
    <p:bodyStyle>
      <a:lvl1pPr marL="342900" indent="-3429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·"/>
        <a:defRPr kumimoji="1" sz="3200">
          <a:solidFill>
            <a:schemeClr val="tx1"/>
          </a:solidFill>
          <a:latin typeface="가는각진제목체" pitchFamily="18" charset="-127"/>
          <a:ea typeface="가는각진제목체" pitchFamily="18" charset="-127"/>
          <a:cs typeface="가는각진제목체"/>
        </a:defRPr>
      </a:lvl1pPr>
      <a:lvl2pPr marL="742950" indent="-28575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-"/>
        <a:defRPr kumimoji="1" sz="2800">
          <a:solidFill>
            <a:schemeClr val="tx1"/>
          </a:solidFill>
          <a:latin typeface="가는각진제목체" pitchFamily="18" charset="-127"/>
          <a:ea typeface="가는각진제목체" pitchFamily="18" charset="-127"/>
          <a:cs typeface="가는각진제목체"/>
        </a:defRPr>
      </a:lvl2pPr>
      <a:lvl3pPr marL="1143000" indent="-228600" algn="l" rtl="0" eaLnBrk="0" fontAlgn="t" hangingPunct="0">
        <a:spcBef>
          <a:spcPct val="20000"/>
        </a:spcBef>
        <a:spcAft>
          <a:spcPct val="0"/>
        </a:spcAft>
        <a:buSzPct val="84000"/>
        <a:buFont typeface="Symbol" pitchFamily="18" charset="2"/>
        <a:buChar char="·"/>
        <a:defRPr kumimoji="1" sz="2400">
          <a:solidFill>
            <a:schemeClr val="tx1"/>
          </a:solidFill>
          <a:latin typeface="가는각진제목체" pitchFamily="18" charset="-127"/>
          <a:ea typeface="가는각진제목체" pitchFamily="18" charset="-127"/>
          <a:cs typeface="가는각진제목체"/>
        </a:defRPr>
      </a:lvl3pPr>
      <a:lvl4pPr marL="1600200" indent="-2286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-"/>
        <a:defRPr kumimoji="1" sz="2000">
          <a:solidFill>
            <a:schemeClr val="tx1"/>
          </a:solidFill>
          <a:latin typeface="가는각진제목체" pitchFamily="18" charset="-127"/>
          <a:ea typeface="가는각진제목체" pitchFamily="18" charset="-127"/>
          <a:cs typeface="가는각진제목체"/>
        </a:defRPr>
      </a:lvl4pPr>
      <a:lvl5pPr marL="2057400" indent="-2286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·"/>
        <a:defRPr kumimoji="1" sz="2000">
          <a:solidFill>
            <a:schemeClr val="tx1"/>
          </a:solidFill>
          <a:latin typeface="가는각진제목체" pitchFamily="18" charset="-127"/>
          <a:ea typeface="가는각진제목체" pitchFamily="18" charset="-127"/>
          <a:cs typeface="가는각진제목체"/>
        </a:defRPr>
      </a:lvl5pPr>
      <a:lvl6pPr marL="2514600" indent="-2286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·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·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·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t" hangingPunct="0">
        <a:spcBef>
          <a:spcPct val="20000"/>
        </a:spcBef>
        <a:spcAft>
          <a:spcPct val="0"/>
        </a:spcAft>
        <a:buSzPct val="75000"/>
        <a:buFont typeface="Symbol" pitchFamily="18" charset="2"/>
        <a:buChar char="·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1F2AA-EC87-49B6-87AA-5282D37FDB05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FD918-510D-40F5-B00C-B9265288A12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97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7987F-F60B-4D9D-BB11-CDC106624B93}" type="datetimeFigureOut">
              <a:rPr lang="ko-KR" altLang="en-US" smtClean="0"/>
              <a:pPr/>
              <a:t>2025-08-31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309E1-9A15-4837-B319-860B900BD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4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09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279400"/>
            <a:ext cx="1888067" cy="99906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460" y="1688288"/>
            <a:ext cx="9464260" cy="423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21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2596" y="777010"/>
            <a:ext cx="8766808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6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1949624" y="872716"/>
            <a:ext cx="8473562" cy="5270024"/>
            <a:chOff x="1949624" y="337218"/>
            <a:chExt cx="8473562" cy="5270024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1949624" y="1538790"/>
              <a:ext cx="8473562" cy="4068452"/>
            </a:xfrm>
            <a:prstGeom prst="rect">
              <a:avLst/>
            </a:prstGeom>
            <a:noFill/>
            <a:ln w="19050" cap="flat" cmpd="dbl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82800" tIns="36000" rIns="82800" bIns="36000" anchor="t"/>
            <a:lstStyle/>
            <a:p>
              <a:pPr marL="252000" indent="-252000" defTabSz="533400" latinLnBrk="0">
                <a:lnSpc>
                  <a:spcPct val="200000"/>
                </a:lnSpc>
                <a:spcAft>
                  <a:spcPts val="0"/>
                </a:spcAft>
                <a:buBlip>
                  <a:blip r:embed="rId7"/>
                </a:buBlip>
                <a:defRPr/>
              </a:pP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학점 </a:t>
              </a:r>
              <a:endPara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52000" indent="-252000" defTabSz="533400" latinLnBrk="0">
                <a:lnSpc>
                  <a:spcPct val="200000"/>
                </a:lnSpc>
                <a:spcAft>
                  <a:spcPts val="0"/>
                </a:spcAft>
                <a:buBlip>
                  <a:blip r:embed="rId7"/>
                </a:buBlip>
                <a:defRPr/>
              </a:pP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교양선택 교과목</a:t>
              </a:r>
              <a:endPara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52000" indent="-252000" defTabSz="533400" latinLnBrk="0">
                <a:lnSpc>
                  <a:spcPct val="200000"/>
                </a:lnSpc>
                <a:spcAft>
                  <a:spcPts val="0"/>
                </a:spcAft>
                <a:buBlip>
                  <a:blip r:embed="rId7"/>
                </a:buBlip>
                <a:defRPr/>
              </a:pPr>
              <a:r>
                <a:rPr kumimoji="0" lang="ko-KR" altLang="en-US" sz="1600" dirty="0">
                  <a:latin typeface="맑은 고딕" pitchFamily="50" charset="-127"/>
                  <a:ea typeface="맑은 고딕" pitchFamily="50" charset="-127"/>
                </a:rPr>
                <a:t>전체 학년</a:t>
              </a:r>
              <a:r>
                <a:rPr kumimoji="0" lang="en-US" altLang="ko-KR" sz="16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0" lang="ko-KR" altLang="en-US" sz="1600" dirty="0">
                  <a:latin typeface="맑은 고딕" pitchFamily="50" charset="-127"/>
                  <a:ea typeface="맑은 고딕" pitchFamily="50" charset="-127"/>
                </a:rPr>
                <a:t>학기</a:t>
              </a:r>
              <a:r>
                <a:rPr kumimoji="0" lang="en-US" altLang="ko-KR" sz="1600" dirty="0"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kumimoji="0" lang="ko-KR" altLang="en-US" sz="1600" dirty="0">
                  <a:latin typeface="맑은 고딕" pitchFamily="50" charset="-127"/>
                  <a:ea typeface="맑은 고딕" pitchFamily="50" charset="-127"/>
                </a:rPr>
                <a:t>수강신청 가능 </a:t>
              </a:r>
              <a:endParaRPr kumimoji="0" lang="en-US" altLang="ko-KR" sz="1600" dirty="0">
                <a:latin typeface="맑은 고딕" pitchFamily="50" charset="-127"/>
                <a:ea typeface="맑은 고딕" pitchFamily="50" charset="-127"/>
              </a:endParaRPr>
            </a:p>
            <a:p>
              <a:pPr marL="252000" indent="-252000" defTabSz="533400" latinLnBrk="0">
                <a:lnSpc>
                  <a:spcPct val="200000"/>
                </a:lnSpc>
                <a:spcAft>
                  <a:spcPts val="0"/>
                </a:spcAft>
                <a:buBlip>
                  <a:blip r:embed="rId7"/>
                </a:buBlip>
                <a:defRPr/>
              </a:pP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수강 취소</a:t>
              </a: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(DROP) 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불가</a:t>
              </a:r>
              <a:endPara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52000" indent="-252000" defTabSz="533400" latinLnBrk="0">
                <a:lnSpc>
                  <a:spcPct val="200000"/>
                </a:lnSpc>
                <a:spcAft>
                  <a:spcPts val="0"/>
                </a:spcAft>
                <a:buBlip>
                  <a:blip r:embed="rId7"/>
                </a:buBlip>
                <a:defRPr/>
              </a:pP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2009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학년도 개설된 </a:t>
              </a: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‘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섬김의 리더십 이론과 실천</a:t>
              </a: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’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과 동일한 과목으로 이중 수강불가</a:t>
              </a:r>
              <a:endPara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52000" indent="-252000" defTabSz="533400" latinLnBrk="0">
                <a:lnSpc>
                  <a:spcPct val="200000"/>
                </a:lnSpc>
                <a:spcAft>
                  <a:spcPts val="0"/>
                </a:spcAft>
                <a:buBlip>
                  <a:blip r:embed="rId7"/>
                </a:buBlip>
                <a:defRPr/>
              </a:pP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섬김의 리더십</a:t>
              </a: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사회봉사실천 </a:t>
              </a: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1, 2, 3 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포함 최대 </a:t>
              </a:r>
              <a:r>
                <a:rPr kumimoji="0" lang="en-US" altLang="ko-KR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kumimoji="0"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학점까지 수강가능</a:t>
              </a:r>
              <a:endPara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132815" y="337218"/>
              <a:ext cx="6266470" cy="381002"/>
              <a:chOff x="666750" y="223838"/>
              <a:chExt cx="6266470" cy="381002"/>
            </a:xfrm>
          </p:grpSpPr>
          <p:sp>
            <p:nvSpPr>
              <p:cNvPr id="10" name="Rectangle 46"/>
              <p:cNvSpPr>
                <a:spLocks noChangeArrowheads="1"/>
              </p:cNvSpPr>
              <p:nvPr/>
            </p:nvSpPr>
            <p:spPr bwMode="auto">
              <a:xfrm rot="5400000">
                <a:off x="3377047" y="-2483282"/>
                <a:ext cx="377825" cy="5798420"/>
              </a:xfrm>
              <a:prstGeom prst="rect">
                <a:avLst/>
              </a:prstGeom>
              <a:gradFill rotWithShape="0">
                <a:gsLst>
                  <a:gs pos="0">
                    <a:srgbClr val="FCF4D8"/>
                  </a:gs>
                  <a:gs pos="100000">
                    <a:srgbClr val="F6E194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rot="10800000" vert="eaVert" wrap="none" anchor="ctr"/>
              <a:lstStyle/>
              <a:p>
                <a:pPr>
                  <a:tabLst>
                    <a:tab pos="430213" algn="l"/>
                  </a:tabLst>
                </a:pPr>
                <a:r>
                  <a:rPr lang="ko-KR" altLang="en-US" sz="1800">
                    <a:latin typeface="가는각진제목체"/>
                    <a:ea typeface="가는각진제목체"/>
                    <a:cs typeface="가는각진제목체"/>
                  </a:rPr>
                  <a:t>	</a:t>
                </a:r>
              </a:p>
            </p:txBody>
          </p:sp>
          <p:sp>
            <p:nvSpPr>
              <p:cNvPr id="11" name="Rectangle 47"/>
              <p:cNvSpPr>
                <a:spLocks noChangeArrowheads="1"/>
              </p:cNvSpPr>
              <p:nvPr/>
            </p:nvSpPr>
            <p:spPr bwMode="auto">
              <a:xfrm>
                <a:off x="668338" y="223838"/>
                <a:ext cx="468312" cy="381000"/>
              </a:xfrm>
              <a:prstGeom prst="rect">
                <a:avLst/>
              </a:prstGeom>
              <a:gradFill rotWithShape="0">
                <a:gsLst>
                  <a:gs pos="0">
                    <a:srgbClr val="F6E194"/>
                  </a:gs>
                  <a:gs pos="100000">
                    <a:srgbClr val="BC9710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sz="1600" dirty="0">
                    <a:latin typeface="맑은 고딕" pitchFamily="50" charset="-127"/>
                    <a:ea typeface="맑은 고딕" pitchFamily="50" charset="-127"/>
                  </a:rPr>
                  <a:t>2</a:t>
                </a:r>
              </a:p>
            </p:txBody>
          </p:sp>
          <p:sp>
            <p:nvSpPr>
              <p:cNvPr id="12" name="Text Box 28"/>
              <p:cNvSpPr txBox="1">
                <a:spLocks noChangeArrowheads="1"/>
              </p:cNvSpPr>
              <p:nvPr/>
            </p:nvSpPr>
            <p:spPr bwMode="auto">
              <a:xfrm>
                <a:off x="1136650" y="239713"/>
                <a:ext cx="579657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1600" dirty="0">
                    <a:latin typeface="맑은 고딕" pitchFamily="50" charset="-127"/>
                    <a:ea typeface="맑은 고딕" pitchFamily="50" charset="-127"/>
                  </a:rPr>
                  <a:t>교과목 안내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068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1991544" y="460380"/>
            <a:ext cx="6266470" cy="381002"/>
            <a:chOff x="666750" y="223838"/>
            <a:chExt cx="6266470" cy="381002"/>
          </a:xfrm>
        </p:grpSpPr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 rot="5400000">
              <a:off x="3377047" y="-2483282"/>
              <a:ext cx="377825" cy="5798420"/>
            </a:xfrm>
            <a:prstGeom prst="rect">
              <a:avLst/>
            </a:prstGeom>
            <a:gradFill rotWithShape="0">
              <a:gsLst>
                <a:gs pos="0">
                  <a:srgbClr val="FCF4D8"/>
                </a:gs>
                <a:gs pos="100000">
                  <a:srgbClr val="F6E19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rot="10800000" vert="eaVert" wrap="none" anchor="ctr"/>
            <a:lstStyle/>
            <a:p>
              <a:pPr>
                <a:tabLst>
                  <a:tab pos="430213" algn="l"/>
                </a:tabLst>
              </a:pPr>
              <a:r>
                <a:rPr lang="ko-KR" altLang="en-US" sz="1800">
                  <a:latin typeface="가는각진제목체"/>
                  <a:ea typeface="가는각진제목체"/>
                  <a:cs typeface="가는각진제목체"/>
                </a:rPr>
                <a:t>	</a:t>
              </a:r>
            </a:p>
          </p:txBody>
        </p:sp>
        <p:sp>
          <p:nvSpPr>
            <p:cNvPr id="10" name="Rectangle 47"/>
            <p:cNvSpPr>
              <a:spLocks noChangeArrowheads="1"/>
            </p:cNvSpPr>
            <p:nvPr/>
          </p:nvSpPr>
          <p:spPr bwMode="auto">
            <a:xfrm>
              <a:off x="668338" y="223838"/>
              <a:ext cx="468312" cy="381000"/>
            </a:xfrm>
            <a:prstGeom prst="rect">
              <a:avLst/>
            </a:prstGeom>
            <a:gradFill rotWithShape="0">
              <a:gsLst>
                <a:gs pos="0">
                  <a:srgbClr val="F6E194"/>
                </a:gs>
                <a:gs pos="100000">
                  <a:srgbClr val="BC971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  <p:sp>
          <p:nvSpPr>
            <p:cNvPr id="11" name="Text Box 28"/>
            <p:cNvSpPr txBox="1">
              <a:spLocks noChangeArrowheads="1"/>
            </p:cNvSpPr>
            <p:nvPr/>
          </p:nvSpPr>
          <p:spPr bwMode="auto">
            <a:xfrm>
              <a:off x="1136650" y="239713"/>
              <a:ext cx="579657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600" dirty="0">
                  <a:latin typeface="맑은 고딕" pitchFamily="50" charset="-127"/>
                  <a:ea typeface="맑은 고딕" pitchFamily="50" charset="-127"/>
                </a:rPr>
                <a:t>이수 방법 및 봉사프로그램 신청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(1/3)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" name="직사각형 11"/>
          <p:cNvSpPr/>
          <p:nvPr/>
        </p:nvSpPr>
        <p:spPr bwMode="auto">
          <a:xfrm>
            <a:off x="1858354" y="4034386"/>
            <a:ext cx="1800225" cy="2340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신청단계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863752" y="4529638"/>
            <a:ext cx="6565350" cy="1844748"/>
          </a:xfrm>
          <a:prstGeom prst="rect">
            <a:avLst/>
          </a:prstGeom>
          <a:noFill/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t"/>
          <a:lstStyle/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섬김의 리더십은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과목 수강신청과 봉사프로그램 신청이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별도로 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이루어짐</a:t>
            </a:r>
            <a:r>
              <a:rPr kumimoji="0" lang="en-US" altLang="ko-KR" sz="14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자율적으로 </a:t>
            </a:r>
            <a:r>
              <a:rPr kumimoji="0" lang="ko-KR" altLang="en-US" sz="1400" dirty="0" err="1">
                <a:latin typeface="맑은 고딕" pitchFamily="50" charset="-127"/>
                <a:ea typeface="맑은 고딕" pitchFamily="50" charset="-127"/>
              </a:rPr>
              <a:t>봉사포털에서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 봉사 </a:t>
            </a:r>
            <a:r>
              <a:rPr kumimoji="0" lang="ko-KR" altLang="en-US" sz="1400">
                <a:latin typeface="맑은 고딕" pitchFamily="50" charset="-127"/>
                <a:ea typeface="맑은 고딕" pitchFamily="50" charset="-127"/>
              </a:rPr>
              <a:t>프로그램 신청</a:t>
            </a:r>
            <a:endParaRPr kumimoji="0" lang="en-US" altLang="ko-KR" sz="14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3858708" y="1227874"/>
            <a:ext cx="6570394" cy="2700300"/>
          </a:xfrm>
          <a:prstGeom prst="rect">
            <a:avLst/>
          </a:prstGeom>
          <a:noFill/>
          <a:ln w="19050" cap="flat" cmpd="dbl" algn="ctr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t"/>
          <a:lstStyle/>
          <a:p>
            <a:pPr marL="342900" indent="-342900" defTabSz="533400" latinLnBrk="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정규수강신청</a:t>
            </a:r>
            <a:endParaRPr kumimoji="0"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 defTabSz="533400" latinLnBrk="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봉사 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프로그램 신청</a:t>
            </a:r>
            <a:endParaRPr kumimoji="0"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 defTabSz="533400" latinLnBrk="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오리엔테이션 및 기본소양교육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오프라인 강의실 수업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6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회</a:t>
            </a:r>
            <a:b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→ 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학기초 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(5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결과보고 및 평가 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(1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b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※ 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기본소양교육 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시간 중 </a:t>
            </a:r>
            <a:r>
              <a:rPr kumimoji="0" lang="en-US" altLang="ko-KR" sz="1400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ko-KR" altLang="en-US" sz="1400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회 이상 결석 시 </a:t>
            </a:r>
            <a:r>
              <a:rPr kumimoji="0" lang="en-US" altLang="ko-KR" sz="1400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Fail</a:t>
            </a:r>
          </a:p>
          <a:p>
            <a:pPr marL="342900" indent="-342900" defTabSz="533400" latinLnBrk="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봉사활동계획서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봉사활동일지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(18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시간 이상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보고서 및 확인서 제출</a:t>
            </a:r>
            <a:endParaRPr kumimoji="0"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pPr marL="342900" indent="-342900" defTabSz="533400" latinLnBrk="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성적 평가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담당교수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): Pass(P) or Non-Pass(Fail)</a:t>
            </a:r>
          </a:p>
        </p:txBody>
      </p:sp>
      <p:sp>
        <p:nvSpPr>
          <p:cNvPr id="15" name="직사각형 14"/>
          <p:cNvSpPr/>
          <p:nvPr/>
        </p:nvSpPr>
        <p:spPr bwMode="auto">
          <a:xfrm>
            <a:off x="1858354" y="1227874"/>
            <a:ext cx="1800225" cy="27003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이수방법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8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1943570" y="763630"/>
            <a:ext cx="6266470" cy="381002"/>
            <a:chOff x="666750" y="223838"/>
            <a:chExt cx="6266470" cy="381002"/>
          </a:xfrm>
        </p:grpSpPr>
        <p:sp>
          <p:nvSpPr>
            <p:cNvPr id="8" name="Rectangle 46"/>
            <p:cNvSpPr>
              <a:spLocks noChangeArrowheads="1"/>
            </p:cNvSpPr>
            <p:nvPr/>
          </p:nvSpPr>
          <p:spPr bwMode="auto">
            <a:xfrm rot="5400000">
              <a:off x="3377047" y="-2483282"/>
              <a:ext cx="377825" cy="5798420"/>
            </a:xfrm>
            <a:prstGeom prst="rect">
              <a:avLst/>
            </a:prstGeom>
            <a:gradFill rotWithShape="0">
              <a:gsLst>
                <a:gs pos="0">
                  <a:srgbClr val="FCF4D8"/>
                </a:gs>
                <a:gs pos="100000">
                  <a:srgbClr val="F6E19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rot="10800000" vert="eaVert" wrap="none" anchor="ctr"/>
            <a:lstStyle/>
            <a:p>
              <a:pPr>
                <a:tabLst>
                  <a:tab pos="430213" algn="l"/>
                </a:tabLst>
              </a:pPr>
              <a:r>
                <a:rPr lang="ko-KR" altLang="en-US" sz="1800">
                  <a:latin typeface="가는각진제목체"/>
                  <a:ea typeface="가는각진제목체"/>
                  <a:cs typeface="가는각진제목체"/>
                </a:rPr>
                <a:t>	</a:t>
              </a:r>
            </a:p>
          </p:txBody>
        </p:sp>
        <p:sp>
          <p:nvSpPr>
            <p:cNvPr id="9" name="Rectangle 47"/>
            <p:cNvSpPr>
              <a:spLocks noChangeArrowheads="1"/>
            </p:cNvSpPr>
            <p:nvPr/>
          </p:nvSpPr>
          <p:spPr bwMode="auto">
            <a:xfrm>
              <a:off x="668338" y="223838"/>
              <a:ext cx="468312" cy="381000"/>
            </a:xfrm>
            <a:prstGeom prst="rect">
              <a:avLst/>
            </a:prstGeom>
            <a:gradFill rotWithShape="0">
              <a:gsLst>
                <a:gs pos="0">
                  <a:srgbClr val="F6E194"/>
                </a:gs>
                <a:gs pos="100000">
                  <a:srgbClr val="BC971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136650" y="239713"/>
              <a:ext cx="579657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600" dirty="0">
                  <a:latin typeface="맑은 고딕" pitchFamily="50" charset="-127"/>
                  <a:ea typeface="맑은 고딕" pitchFamily="50" charset="-127"/>
                </a:rPr>
                <a:t>이수 방법 및 봉사프로그램 신청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(3/3)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" name="직사각형 10"/>
          <p:cNvSpPr/>
          <p:nvPr/>
        </p:nvSpPr>
        <p:spPr bwMode="auto">
          <a:xfrm>
            <a:off x="4057389" y="2240600"/>
            <a:ext cx="6517419" cy="2088000"/>
          </a:xfrm>
          <a:prstGeom prst="rect">
            <a:avLst/>
          </a:prstGeom>
          <a:noFill/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ctr"/>
          <a:lstStyle/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봉사활동 신청기간 </a:t>
            </a:r>
            <a:r>
              <a:rPr kumimoji="0" lang="en-US" altLang="ko-KR" sz="140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9/8(</a:t>
            </a:r>
            <a:r>
              <a:rPr kumimoji="0" lang="ko-KR" altLang="en-US" sz="140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월</a:t>
            </a:r>
            <a:r>
              <a:rPr kumimoji="0" lang="en-US" altLang="ko-KR" sz="140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~ 11/7(</a:t>
            </a:r>
            <a:r>
              <a:rPr kumimoji="0" lang="ko-KR" altLang="en-US" sz="1400" dirty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금</a:t>
            </a:r>
            <a:r>
              <a:rPr kumimoji="0" lang="en-US" altLang="ko-KR" sz="1400" dirty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 </a:t>
            </a: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학교에서 인정하는 </a:t>
            </a:r>
            <a:r>
              <a:rPr kumimoji="0"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봉사포털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(VMS, 1365, DOVOL, 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동행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에서 학생이 직접 봉사활동 신청</a:t>
            </a:r>
            <a:endParaRPr kumimoji="0"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수강변경기간</a:t>
            </a:r>
            <a:r>
              <a:rPr kumimoji="0" lang="en-US" altLang="ko-KR" sz="140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(9/1~9/5)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에 분반변경 가능</a:t>
            </a:r>
            <a:endParaRPr kumimoji="0" lang="en-US" altLang="ko-KR" sz="14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봉사활동 최종 종료 후 위에 언급한 </a:t>
            </a:r>
            <a:r>
              <a:rPr kumimoji="0"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봉사포털에서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봉사활동확인서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인증서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발급하여 기한 내 </a:t>
            </a:r>
            <a:r>
              <a:rPr kumimoji="0" lang="ko-KR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제출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(12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일까지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LMS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봉사확인서 게시판에 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제출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2" name="직사각형 11"/>
          <p:cNvSpPr/>
          <p:nvPr/>
        </p:nvSpPr>
        <p:spPr bwMode="auto">
          <a:xfrm>
            <a:off x="1943569" y="2240600"/>
            <a:ext cx="1980000" cy="2088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자율선택봉사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720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2119781" y="581692"/>
            <a:ext cx="6266470" cy="381002"/>
            <a:chOff x="666750" y="223838"/>
            <a:chExt cx="6266470" cy="381002"/>
          </a:xfrm>
        </p:grpSpPr>
        <p:sp>
          <p:nvSpPr>
            <p:cNvPr id="8" name="Rectangle 46"/>
            <p:cNvSpPr>
              <a:spLocks noChangeArrowheads="1"/>
            </p:cNvSpPr>
            <p:nvPr/>
          </p:nvSpPr>
          <p:spPr bwMode="auto">
            <a:xfrm rot="5400000">
              <a:off x="3377047" y="-2483282"/>
              <a:ext cx="377825" cy="5798420"/>
            </a:xfrm>
            <a:prstGeom prst="rect">
              <a:avLst/>
            </a:prstGeom>
            <a:gradFill rotWithShape="0">
              <a:gsLst>
                <a:gs pos="0">
                  <a:srgbClr val="FCF4D8"/>
                </a:gs>
                <a:gs pos="100000">
                  <a:srgbClr val="F6E19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rot="10800000" vert="eaVert" wrap="none" anchor="ctr"/>
            <a:lstStyle/>
            <a:p>
              <a:pPr>
                <a:tabLst>
                  <a:tab pos="430213" algn="l"/>
                </a:tabLst>
              </a:pPr>
              <a:r>
                <a:rPr lang="ko-KR" altLang="en-US" sz="1800">
                  <a:latin typeface="가는각진제목체"/>
                  <a:ea typeface="가는각진제목체"/>
                  <a:cs typeface="가는각진제목체"/>
                </a:rPr>
                <a:t>	</a:t>
              </a:r>
            </a:p>
          </p:txBody>
        </p:sp>
        <p:sp>
          <p:nvSpPr>
            <p:cNvPr id="9" name="Rectangle 47"/>
            <p:cNvSpPr>
              <a:spLocks noChangeArrowheads="1"/>
            </p:cNvSpPr>
            <p:nvPr/>
          </p:nvSpPr>
          <p:spPr bwMode="auto">
            <a:xfrm>
              <a:off x="668338" y="223838"/>
              <a:ext cx="468312" cy="381000"/>
            </a:xfrm>
            <a:prstGeom prst="rect">
              <a:avLst/>
            </a:prstGeom>
            <a:gradFill rotWithShape="0">
              <a:gsLst>
                <a:gs pos="0">
                  <a:srgbClr val="F6E194"/>
                </a:gs>
                <a:gs pos="100000">
                  <a:srgbClr val="BC971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6</a:t>
              </a: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136650" y="239713"/>
              <a:ext cx="579657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600">
                  <a:latin typeface="맑은 고딕" pitchFamily="50" charset="-127"/>
                  <a:ea typeface="맑은 고딕" pitchFamily="50" charset="-127"/>
                </a:rPr>
                <a:t>봉사프로그램 </a:t>
              </a:r>
              <a:r>
                <a:rPr lang="ko-KR" altLang="en-US" sz="1600" dirty="0">
                  <a:latin typeface="맑은 고딕" pitchFamily="50" charset="-127"/>
                  <a:ea typeface="맑은 고딕" pitchFamily="50" charset="-127"/>
                </a:rPr>
                <a:t>신청방법 및 일정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(1/3)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" name="오른쪽 화살표 10"/>
          <p:cNvSpPr/>
          <p:nvPr/>
        </p:nvSpPr>
        <p:spPr bwMode="auto">
          <a:xfrm>
            <a:off x="3969846" y="1867584"/>
            <a:ext cx="540420" cy="647700"/>
          </a:xfrm>
          <a:prstGeom prst="rightArrow">
            <a:avLst/>
          </a:prstGeom>
          <a:solidFill>
            <a:srgbClr val="92D050"/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t"/>
          <a:lstStyle/>
          <a:p>
            <a:pPr marL="252000" indent="-252000" defTabSz="533400" latinLnBrk="0">
              <a:lnSpc>
                <a:spcPct val="200000"/>
              </a:lnSpc>
              <a:spcAft>
                <a:spcPts val="0"/>
              </a:spcAft>
              <a:buBlip>
                <a:blip r:embed="rId7"/>
              </a:buBlip>
            </a:pPr>
            <a:endParaRPr kumimoji="0" lang="ko-KR" altLang="en-US" sz="16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841993" y="1482599"/>
            <a:ext cx="1800000" cy="13496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en-US" altLang="ko-KR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U-Saint </a:t>
            </a:r>
          </a:p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622880" y="1543548"/>
            <a:ext cx="2807612" cy="12961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봉사기관 및 </a:t>
            </a:r>
            <a:endParaRPr lang="en-US" altLang="ko-KR" sz="2000" kern="100" spc="-2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봉사프로그램 </a:t>
            </a: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선택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3806455" y="3102778"/>
            <a:ext cx="6624039" cy="3348000"/>
          </a:xfrm>
          <a:prstGeom prst="rect">
            <a:avLst/>
          </a:prstGeom>
          <a:noFill/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ctr"/>
          <a:lstStyle/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학교에서 인정하는 봉사포털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(VMS, 1365, DOVOL, 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동행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을 통해 수행한 봉사활동만 인정함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학생이 직접 위에 언급된 봉사포털 내 등록된 봉사기관 및 프로그램 </a:t>
            </a:r>
            <a:r>
              <a:rPr kumimoji="0" lang="ko-KR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신청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(9/8(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)~11/7(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금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24:00)</a:t>
            </a:r>
          </a:p>
          <a:p>
            <a:pPr marL="252000" indent="-252000" algn="just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신청 후 기관과 연락을 통해 봉사일정 및 안내사항 숙지할 것</a:t>
            </a:r>
            <a:endParaRPr kumimoji="0"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pPr marL="252000" indent="-252000" algn="just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최종적으로 봉사활동이 끝나게 되면 위에서 언급한 </a:t>
            </a:r>
            <a:r>
              <a:rPr kumimoji="0"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봉사포털에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접속한 뒤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로그인을 통해 발급한 </a:t>
            </a:r>
            <a:r>
              <a:rPr kumimoji="0" lang="ko-KR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봉사활동확인서를 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일까지 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LMS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게시판에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제출해야 함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. </a:t>
            </a:r>
            <a:endParaRPr kumimoji="0" lang="en-US" altLang="ko-KR" sz="14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52000" indent="-252000" algn="just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위 봉사포털 외 개별 기관의 봉사활동확인서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인증서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인정 불가</a:t>
            </a:r>
            <a:endParaRPr kumimoji="0" lang="en-US" altLang="ko-KR" sz="140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just" defTabSz="533400" latinLnBrk="0">
              <a:lnSpc>
                <a:spcPct val="150000"/>
              </a:lnSpc>
              <a:spcAft>
                <a:spcPts val="0"/>
              </a:spcAft>
              <a:defRPr/>
            </a:pPr>
            <a:r>
              <a:rPr kumimoji="0" lang="en-US" altLang="ko-KR" sz="1400">
                <a:latin typeface="맑은 고딕" pitchFamily="50" charset="-127"/>
                <a:ea typeface="맑은 고딕" pitchFamily="50" charset="-127"/>
              </a:rPr>
              <a:t>    (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EX.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봉사활동 기관에서 자체적으로 발급한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확인서의 경우 인정 불가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5" name="직사각형 14"/>
          <p:cNvSpPr/>
          <p:nvPr/>
        </p:nvSpPr>
        <p:spPr bwMode="auto">
          <a:xfrm>
            <a:off x="1841995" y="3102778"/>
            <a:ext cx="1799999" cy="3348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자율선택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732436" y="1482599"/>
            <a:ext cx="1800000" cy="13496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섬김의 리더십 수강신청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오른쪽 화살표 16"/>
          <p:cNvSpPr/>
          <p:nvPr/>
        </p:nvSpPr>
        <p:spPr bwMode="auto">
          <a:xfrm>
            <a:off x="6866794" y="1867584"/>
            <a:ext cx="540420" cy="647700"/>
          </a:xfrm>
          <a:prstGeom prst="rightArrow">
            <a:avLst/>
          </a:prstGeom>
          <a:solidFill>
            <a:srgbClr val="92D050"/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t"/>
          <a:lstStyle/>
          <a:p>
            <a:pPr marL="252000" indent="-252000" defTabSz="533400" latinLnBrk="0">
              <a:lnSpc>
                <a:spcPct val="200000"/>
              </a:lnSpc>
              <a:spcAft>
                <a:spcPts val="0"/>
              </a:spcAft>
              <a:buBlip>
                <a:blip r:embed="rId7"/>
              </a:buBlip>
            </a:pPr>
            <a:endParaRPr kumimoji="0" lang="ko-KR" altLang="en-US" sz="16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90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 bwMode="auto">
          <a:xfrm>
            <a:off x="1798042" y="1742811"/>
            <a:ext cx="1897434" cy="460851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학교에서 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인정하는 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자율선택기관 포털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3850456" y="1742811"/>
            <a:ext cx="6565350" cy="4608512"/>
          </a:xfrm>
          <a:prstGeom prst="rect">
            <a:avLst/>
          </a:prstGeom>
          <a:noFill/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ctr"/>
          <a:lstStyle/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VMS </a:t>
            </a: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사회복지 자원봉사 인정기관 </a:t>
            </a: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(http://www.vms.or.kr), </a:t>
            </a:r>
            <a:b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보건복지부 인정기관</a:t>
            </a:r>
            <a:endParaRPr kumimoji="0"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1365 </a:t>
            </a: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자원봉사 포털 인정기관 </a:t>
            </a: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(http://www.1365.go.kr), </a:t>
            </a:r>
            <a:b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행정안전부 인정기관</a:t>
            </a:r>
            <a:endParaRPr kumimoji="0"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en-US" altLang="ko-KR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Dovol</a:t>
            </a: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청소년 자원봉사 인정기관</a:t>
            </a: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(http://dovol.youth.go.kr), </a:t>
            </a:r>
            <a:b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여성가족부</a:t>
            </a: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인정기관</a:t>
            </a: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서울동행프로젝트 </a:t>
            </a: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(https://donghaeng.seoul.kr), </a:t>
            </a:r>
            <a:b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서울특별시자원봉사센터</a:t>
            </a:r>
            <a:br>
              <a:rPr kumimoji="0" lang="en-US" altLang="ko-KR" sz="16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위 </a:t>
            </a: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포털 사이트 중 선택하여</a:t>
            </a:r>
            <a:r>
              <a:rPr kumimoji="0"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회원가입을 </a:t>
            </a:r>
            <a:r>
              <a:rPr kumimoji="0" lang="ko-KR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해야 함</a:t>
            </a:r>
            <a:endParaRPr kumimoji="0"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091010" y="671316"/>
            <a:ext cx="6266470" cy="381002"/>
            <a:chOff x="666750" y="223838"/>
            <a:chExt cx="6266470" cy="381002"/>
          </a:xfrm>
        </p:grpSpPr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 rot="5400000">
              <a:off x="3377047" y="-2483282"/>
              <a:ext cx="377825" cy="5798420"/>
            </a:xfrm>
            <a:prstGeom prst="rect">
              <a:avLst/>
            </a:prstGeom>
            <a:gradFill rotWithShape="0">
              <a:gsLst>
                <a:gs pos="0">
                  <a:srgbClr val="FCF4D8"/>
                </a:gs>
                <a:gs pos="100000">
                  <a:srgbClr val="F6E19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rot="10800000" vert="eaVert" wrap="none" anchor="ctr"/>
            <a:lstStyle/>
            <a:p>
              <a:pPr>
                <a:tabLst>
                  <a:tab pos="430213" algn="l"/>
                </a:tabLst>
              </a:pPr>
              <a:r>
                <a:rPr lang="ko-KR" altLang="en-US" sz="1800">
                  <a:latin typeface="가는각진제목체"/>
                  <a:ea typeface="가는각진제목체"/>
                  <a:cs typeface="가는각진제목체"/>
                </a:rPr>
                <a:t>	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668338" y="223838"/>
              <a:ext cx="468312" cy="381000"/>
            </a:xfrm>
            <a:prstGeom prst="rect">
              <a:avLst/>
            </a:prstGeom>
            <a:gradFill rotWithShape="0">
              <a:gsLst>
                <a:gs pos="0">
                  <a:srgbClr val="F6E194"/>
                </a:gs>
                <a:gs pos="100000">
                  <a:srgbClr val="BC971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6</a:t>
              </a:r>
            </a:p>
          </p:txBody>
        </p:sp>
        <p:sp>
          <p:nvSpPr>
            <p:cNvPr id="12" name="Text Box 28"/>
            <p:cNvSpPr txBox="1">
              <a:spLocks noChangeArrowheads="1"/>
            </p:cNvSpPr>
            <p:nvPr/>
          </p:nvSpPr>
          <p:spPr bwMode="auto">
            <a:xfrm>
              <a:off x="1136650" y="239713"/>
              <a:ext cx="579657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600">
                  <a:latin typeface="맑은 고딕" pitchFamily="50" charset="-127"/>
                  <a:ea typeface="맑은 고딕" pitchFamily="50" charset="-127"/>
                </a:rPr>
                <a:t>봉사프로그램 </a:t>
              </a:r>
              <a:r>
                <a:rPr lang="ko-KR" altLang="en-US" sz="1600" dirty="0">
                  <a:latin typeface="맑은 고딕" pitchFamily="50" charset="-127"/>
                  <a:ea typeface="맑은 고딕" pitchFamily="50" charset="-127"/>
                </a:rPr>
                <a:t>신청방법 및 일정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(2/3)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548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 bwMode="auto">
          <a:xfrm>
            <a:off x="1811338" y="1380067"/>
            <a:ext cx="1897434" cy="172819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numCol="1" anchor="ctr"/>
          <a:lstStyle/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봉사활동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확인서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indent="635" algn="ctr">
              <a:lnSpc>
                <a:spcPct val="150000"/>
              </a:lnSpc>
              <a:spcAft>
                <a:spcPts val="0"/>
              </a:spcAft>
              <a:tabLst>
                <a:tab pos="160655" algn="l"/>
              </a:tabLst>
            </a:pPr>
            <a:r>
              <a:rPr lang="ko-KR" altLang="en-US" sz="2000" kern="100" spc="-2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제출방법 </a:t>
            </a:r>
            <a:endParaRPr lang="en-US" altLang="ko-KR" sz="2000" kern="100" spc="-2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3863752" y="1380067"/>
            <a:ext cx="6740610" cy="1728192"/>
          </a:xfrm>
          <a:prstGeom prst="rect">
            <a:avLst/>
          </a:prstGeom>
          <a:noFill/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t"/>
          <a:lstStyle/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봉사활동 이수 후 봉사활동 실적에 해당하는 봉사활동확인서를 해당</a:t>
            </a:r>
            <a:b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봉사포털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(VMS, 1365, DOVOL, 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동행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kumimoji="0" lang="ko-KR" altLang="en-US" sz="1400" dirty="0">
                <a:latin typeface="맑은 고딕" pitchFamily="50" charset="-127"/>
                <a:ea typeface="맑은 고딕" pitchFamily="50" charset="-127"/>
              </a:rPr>
              <a:t>홈페이지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에서 발급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아래 사진 참조</a:t>
            </a:r>
            <a:r>
              <a:rPr kumimoji="0"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발급한 확인서를 섬김의 리더십 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스마트캠퍼스 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게시판에 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kumimoji="0" lang="en-US" altLang="ko-KR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kumimoji="0" lang="ko-KR" altLang="en-US" sz="140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(17</a:t>
            </a: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시</a:t>
            </a:r>
            <a:r>
              <a:rPr kumimoji="0"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까지 스마트캠퍼스 게시판 제출 </a:t>
            </a:r>
            <a:endParaRPr kumimoji="0"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r>
              <a:rPr kumimoji="0" lang="ko-KR" altLang="en-US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아래에 해당하지 않는 확인서 인정 불가</a:t>
            </a:r>
            <a:r>
              <a:rPr kumimoji="0" lang="en-US" altLang="ko-KR" sz="1400" dirty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dirty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봉사기관 자체 발급용 불가</a:t>
            </a:r>
            <a:r>
              <a:rPr kumimoji="0" lang="en-US" altLang="ko-KR" sz="1400" dirty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52000" indent="-252000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endParaRPr kumimoji="0"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4034" y="5922959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1365</a:t>
            </a:r>
          </a:p>
          <a:p>
            <a:pPr algn="ctr"/>
            <a:r>
              <a:rPr lang="ko-KR" altLang="en-US" dirty="0"/>
              <a:t>봉사활동확인서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13698" y="5922959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VMS</a:t>
            </a:r>
          </a:p>
          <a:p>
            <a:pPr algn="ctr"/>
            <a:r>
              <a:rPr lang="ko-KR" altLang="en-US" dirty="0"/>
              <a:t>봉사활동확인서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53924" y="5922959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DOVOL</a:t>
            </a:r>
          </a:p>
          <a:p>
            <a:pPr algn="ctr"/>
            <a:r>
              <a:rPr lang="ko-KR" altLang="en-US" dirty="0"/>
              <a:t>봉사활동확인서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34144" y="5922959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동행</a:t>
            </a:r>
            <a:endParaRPr lang="en-US" altLang="ko-KR" dirty="0"/>
          </a:p>
          <a:p>
            <a:pPr algn="ctr"/>
            <a:r>
              <a:rPr lang="ko-KR" altLang="en-US" dirty="0"/>
              <a:t>봉사활동확인서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2116667" y="477004"/>
            <a:ext cx="6266470" cy="381002"/>
            <a:chOff x="666750" y="223838"/>
            <a:chExt cx="6266470" cy="381002"/>
          </a:xfrm>
        </p:grpSpPr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 rot="5400000">
              <a:off x="3377047" y="-2483282"/>
              <a:ext cx="377825" cy="5798420"/>
            </a:xfrm>
            <a:prstGeom prst="rect">
              <a:avLst/>
            </a:prstGeom>
            <a:gradFill rotWithShape="0">
              <a:gsLst>
                <a:gs pos="0">
                  <a:srgbClr val="FCF4D8"/>
                </a:gs>
                <a:gs pos="100000">
                  <a:srgbClr val="F6E19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rot="10800000" vert="eaVert" wrap="none" anchor="ctr"/>
            <a:lstStyle/>
            <a:p>
              <a:pPr>
                <a:tabLst>
                  <a:tab pos="430213" algn="l"/>
                </a:tabLst>
              </a:pPr>
              <a:r>
                <a:rPr lang="ko-KR" altLang="en-US" sz="1800">
                  <a:latin typeface="가는각진제목체"/>
                  <a:ea typeface="가는각진제목체"/>
                  <a:cs typeface="가는각진제목체"/>
                </a:rPr>
                <a:t>	</a:t>
              </a:r>
            </a:p>
          </p:txBody>
        </p:sp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668338" y="223838"/>
              <a:ext cx="468312" cy="381000"/>
            </a:xfrm>
            <a:prstGeom prst="rect">
              <a:avLst/>
            </a:prstGeom>
            <a:gradFill rotWithShape="0">
              <a:gsLst>
                <a:gs pos="0">
                  <a:srgbClr val="F6E194"/>
                </a:gs>
                <a:gs pos="100000">
                  <a:srgbClr val="BC971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6</a:t>
              </a:r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1136650" y="239713"/>
              <a:ext cx="579657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600">
                  <a:latin typeface="맑은 고딕" pitchFamily="50" charset="-127"/>
                  <a:ea typeface="맑은 고딕" pitchFamily="50" charset="-127"/>
                </a:rPr>
                <a:t>봉사프로그램 </a:t>
              </a:r>
              <a:r>
                <a:rPr lang="ko-KR" altLang="en-US" sz="1600" dirty="0">
                  <a:latin typeface="맑은 고딕" pitchFamily="50" charset="-127"/>
                  <a:ea typeface="맑은 고딕" pitchFamily="50" charset="-127"/>
                </a:rPr>
                <a:t>신청방법 및 일정</a:t>
              </a:r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(3/3)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6742339-26C1-4C6F-9E1F-6EB9956212E1}"/>
              </a:ext>
            </a:extLst>
          </p:cNvPr>
          <p:cNvGrpSpPr/>
          <p:nvPr/>
        </p:nvGrpSpPr>
        <p:grpSpPr>
          <a:xfrm>
            <a:off x="6236043" y="3171132"/>
            <a:ext cx="2039820" cy="2688953"/>
            <a:chOff x="7037079" y="728700"/>
            <a:chExt cx="3822033" cy="492231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ADB24C2-EA06-4481-8B5C-A2E556298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37079" y="728700"/>
              <a:ext cx="3822033" cy="492231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3639CA8-EEE7-4FF9-B539-F28CF514FF86}"/>
                </a:ext>
              </a:extLst>
            </p:cNvPr>
            <p:cNvSpPr/>
            <p:nvPr/>
          </p:nvSpPr>
          <p:spPr bwMode="auto">
            <a:xfrm>
              <a:off x="8121352" y="1736812"/>
              <a:ext cx="576064" cy="108012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A7AD1FD-F807-4D0F-AFE7-5E5A95D2D843}"/>
                </a:ext>
              </a:extLst>
            </p:cNvPr>
            <p:cNvSpPr/>
            <p:nvPr/>
          </p:nvSpPr>
          <p:spPr bwMode="auto">
            <a:xfrm>
              <a:off x="8121352" y="2051444"/>
              <a:ext cx="576064" cy="108012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9FA2DBD-CEF4-455D-A066-920CA9F1AEF4}"/>
                </a:ext>
              </a:extLst>
            </p:cNvPr>
            <p:cNvSpPr/>
            <p:nvPr/>
          </p:nvSpPr>
          <p:spPr bwMode="auto">
            <a:xfrm>
              <a:off x="8121352" y="2339475"/>
              <a:ext cx="1897200" cy="150433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59D4EA-C9D3-49CC-B8D8-B8BEC57673C6}"/>
              </a:ext>
            </a:extLst>
          </p:cNvPr>
          <p:cNvGrpSpPr/>
          <p:nvPr/>
        </p:nvGrpSpPr>
        <p:grpSpPr>
          <a:xfrm>
            <a:off x="4029153" y="3171132"/>
            <a:ext cx="2106387" cy="2688953"/>
            <a:chOff x="2495207" y="566338"/>
            <a:chExt cx="4915586" cy="5725324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48E2BABD-C896-4041-94E4-A2D18034D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95207" y="566338"/>
              <a:ext cx="4915586" cy="572532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5D6C588-1AC5-4852-8989-FF3096F0E0A7}"/>
                </a:ext>
              </a:extLst>
            </p:cNvPr>
            <p:cNvSpPr/>
            <p:nvPr/>
          </p:nvSpPr>
          <p:spPr bwMode="auto">
            <a:xfrm>
              <a:off x="3565959" y="1448780"/>
              <a:ext cx="630957" cy="18002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35D5E09-C9B8-4A4A-9829-151F82BCA645}"/>
                </a:ext>
              </a:extLst>
            </p:cNvPr>
            <p:cNvSpPr/>
            <p:nvPr/>
          </p:nvSpPr>
          <p:spPr bwMode="auto">
            <a:xfrm>
              <a:off x="6053299" y="1463079"/>
              <a:ext cx="630957" cy="18002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9064AAF-3C5D-4F94-B94E-EDF65F73C0AE}"/>
                </a:ext>
              </a:extLst>
            </p:cNvPr>
            <p:cNvSpPr/>
            <p:nvPr/>
          </p:nvSpPr>
          <p:spPr bwMode="auto">
            <a:xfrm>
              <a:off x="3608850" y="1721145"/>
              <a:ext cx="2370316" cy="2342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47C362F-D359-422E-B1CE-6F6A369846A2}"/>
              </a:ext>
            </a:extLst>
          </p:cNvPr>
          <p:cNvGrpSpPr/>
          <p:nvPr/>
        </p:nvGrpSpPr>
        <p:grpSpPr>
          <a:xfrm>
            <a:off x="8339368" y="3184903"/>
            <a:ext cx="2106388" cy="2688952"/>
            <a:chOff x="3520840" y="-364648"/>
            <a:chExt cx="6068542" cy="6781980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CC766B4-DF2E-44F1-AAB0-46F074A499D9}"/>
                </a:ext>
              </a:extLst>
            </p:cNvPr>
            <p:cNvGrpSpPr/>
            <p:nvPr/>
          </p:nvGrpSpPr>
          <p:grpSpPr>
            <a:xfrm>
              <a:off x="3520840" y="-364648"/>
              <a:ext cx="6068542" cy="6781980"/>
              <a:chOff x="2966760" y="1123628"/>
              <a:chExt cx="3972479" cy="4610743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A00263E1-7CF2-4092-939A-21B9CB208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66760" y="1123628"/>
                <a:ext cx="3972479" cy="461074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44AF3F14-E474-48C8-BF32-ECF4E41BA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66760" y="4618370"/>
                <a:ext cx="3972479" cy="981212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</p:grp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D06E3EF-E21E-43AD-90DF-8FBFEFAA1F52}"/>
                </a:ext>
              </a:extLst>
            </p:cNvPr>
            <p:cNvSpPr/>
            <p:nvPr/>
          </p:nvSpPr>
          <p:spPr bwMode="auto">
            <a:xfrm>
              <a:off x="5671720" y="983716"/>
              <a:ext cx="793450" cy="225486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17D1C32-9181-472D-BBFA-1BEEBFE9C109}"/>
                </a:ext>
              </a:extLst>
            </p:cNvPr>
            <p:cNvSpPr/>
            <p:nvPr/>
          </p:nvSpPr>
          <p:spPr bwMode="auto">
            <a:xfrm>
              <a:off x="8580282" y="1005171"/>
              <a:ext cx="793450" cy="225486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7E321E9-94B9-42EA-BDB7-A351A538A8DE}"/>
                </a:ext>
              </a:extLst>
            </p:cNvPr>
            <p:cNvSpPr/>
            <p:nvPr/>
          </p:nvSpPr>
          <p:spPr bwMode="auto">
            <a:xfrm>
              <a:off x="8556662" y="1664804"/>
              <a:ext cx="793450" cy="121792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7DA15A2-A64B-4EF4-85CD-2CA9DB7E778C}"/>
                </a:ext>
              </a:extLst>
            </p:cNvPr>
            <p:cNvSpPr/>
            <p:nvPr/>
          </p:nvSpPr>
          <p:spPr bwMode="auto">
            <a:xfrm>
              <a:off x="5428718" y="1623097"/>
              <a:ext cx="1255538" cy="157564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DA06BC5-F96B-4CC9-A5A1-A5C86F226B4D}"/>
                </a:ext>
              </a:extLst>
            </p:cNvPr>
            <p:cNvSpPr/>
            <p:nvPr/>
          </p:nvSpPr>
          <p:spPr bwMode="auto">
            <a:xfrm>
              <a:off x="5269688" y="1365260"/>
              <a:ext cx="3571744" cy="114081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atinLnBrk="0">
                <a:spcBef>
                  <a:spcPct val="50000"/>
                </a:spcBef>
              </a:pPr>
              <a:endParaRPr lang="ko-KR" altLang="en-US" sz="1400" b="0">
                <a:ea typeface="휴먼태엑스포" pitchFamily="18" charset="-127"/>
              </a:endParaRPr>
            </a:p>
          </p:txBody>
        </p: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7937713D-BABA-4888-9778-D04C7086CC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8784" y="3201796"/>
            <a:ext cx="2168760" cy="268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4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2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 bwMode="auto">
          <a:xfrm>
            <a:off x="1244600" y="1132603"/>
            <a:ext cx="9963968" cy="5581671"/>
          </a:xfrm>
          <a:prstGeom prst="rect">
            <a:avLst/>
          </a:prstGeom>
          <a:noFill/>
          <a:ln w="19050" cap="flat" cmpd="dbl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800" tIns="36000" rIns="82800" bIns="36000" anchor="t"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400" dirty="0">
                <a:latin typeface="+mn-ea"/>
                <a:ea typeface="+mn-ea"/>
              </a:rPr>
              <a:t>봉사활동으로 인정하지 않는 사례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단순히 자원봉사 교육만 이수하는 경우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봉사자 전담 업무 외에 봉사기관 직원이 담당하는 행정업무를 대신하는 경우</a:t>
            </a:r>
            <a:br>
              <a:rPr lang="ko-KR" altLang="en-US" sz="1400" b="0" dirty="0">
                <a:latin typeface="+mn-ea"/>
                <a:ea typeface="+mn-ea"/>
              </a:rPr>
            </a:br>
            <a:r>
              <a:rPr lang="ko-KR" altLang="en-US" sz="1400" b="0" dirty="0">
                <a:latin typeface="+mn-ea"/>
                <a:ea typeface="+mn-ea"/>
              </a:rPr>
              <a:t>→ 이는 당초 계약된 봉사활동이 아니라 기관의 행정직원이 맡는 고유 업무를 대신 수행하는 것임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헌혈</a:t>
            </a:r>
            <a:r>
              <a:rPr lang="en-US" altLang="ko-KR" sz="1400" b="0" dirty="0">
                <a:latin typeface="+mn-ea"/>
                <a:ea typeface="+mn-ea"/>
              </a:rPr>
              <a:t>, </a:t>
            </a:r>
            <a:r>
              <a:rPr lang="ko-KR" altLang="en-US" sz="1400" b="0" dirty="0">
                <a:latin typeface="+mn-ea"/>
                <a:ea typeface="+mn-ea"/>
              </a:rPr>
              <a:t>재택봉사</a:t>
            </a:r>
            <a:r>
              <a:rPr lang="en-US" altLang="ko-KR" sz="1400" b="0" dirty="0">
                <a:latin typeface="+mn-ea"/>
                <a:ea typeface="+mn-ea"/>
              </a:rPr>
              <a:t>, </a:t>
            </a:r>
            <a:r>
              <a:rPr lang="ko-KR" altLang="en-US" sz="1400" b="0" dirty="0">
                <a:latin typeface="+mn-ea"/>
                <a:ea typeface="+mn-ea"/>
              </a:rPr>
              <a:t>도서관 사서의 본래 업무 대체</a:t>
            </a:r>
            <a:br>
              <a:rPr lang="ko-KR" altLang="en-US" sz="1400" b="0" dirty="0">
                <a:latin typeface="+mn-ea"/>
                <a:ea typeface="+mn-ea"/>
              </a:rPr>
            </a:br>
            <a:r>
              <a:rPr lang="en-US" altLang="ko-KR" sz="1400" b="0" dirty="0">
                <a:latin typeface="+mn-ea"/>
                <a:ea typeface="+mn-ea"/>
              </a:rPr>
              <a:t>(</a:t>
            </a:r>
            <a:r>
              <a:rPr lang="ko-KR" altLang="en-US" sz="1400" b="0" dirty="0">
                <a:latin typeface="+mn-ea"/>
                <a:ea typeface="+mn-ea"/>
              </a:rPr>
              <a:t>단</a:t>
            </a:r>
            <a:r>
              <a:rPr lang="en-US" altLang="ko-KR" sz="1400" b="0" dirty="0">
                <a:latin typeface="+mn-ea"/>
                <a:ea typeface="+mn-ea"/>
              </a:rPr>
              <a:t>, </a:t>
            </a:r>
            <a:r>
              <a:rPr lang="ko-KR" altLang="en-US" sz="1400" b="0" dirty="0">
                <a:latin typeface="+mn-ea"/>
                <a:ea typeface="+mn-ea"/>
              </a:rPr>
              <a:t>서가 정리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도서 배치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대출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반납 보조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이용자 안내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독서 프로그램 보조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장애인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어린이 지원 활동 등은 인정함</a:t>
            </a:r>
            <a:r>
              <a:rPr lang="en-US" altLang="ko-KR" sz="1400" b="0" dirty="0">
                <a:latin typeface="+mn-ea"/>
                <a:ea typeface="+mn-ea"/>
              </a:rPr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US" altLang="ko-KR" sz="1400" b="0" dirty="0">
              <a:latin typeface="+mn-ea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400" dirty="0">
                <a:latin typeface="+mn-ea"/>
                <a:ea typeface="+mn-ea"/>
              </a:rPr>
              <a:t>봉사활동 시간 기준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봉사활동 기간</a:t>
            </a:r>
            <a:r>
              <a:rPr lang="en-US" altLang="ko-KR" sz="1400" b="0" dirty="0">
                <a:latin typeface="+mn-ea"/>
                <a:ea typeface="+mn-ea"/>
              </a:rPr>
              <a:t>: 2025</a:t>
            </a:r>
            <a:r>
              <a:rPr lang="ko-KR" altLang="en-US" sz="1400" b="0" dirty="0">
                <a:latin typeface="+mn-ea"/>
                <a:ea typeface="+mn-ea"/>
              </a:rPr>
              <a:t>년 </a:t>
            </a:r>
            <a:r>
              <a:rPr lang="en-US" altLang="ko-KR" sz="1400" b="0" dirty="0">
                <a:latin typeface="+mn-ea"/>
                <a:ea typeface="+mn-ea"/>
              </a:rPr>
              <a:t>9</a:t>
            </a:r>
            <a:r>
              <a:rPr lang="ko-KR" altLang="en-US" sz="1400" b="0" dirty="0">
                <a:latin typeface="+mn-ea"/>
                <a:ea typeface="+mn-ea"/>
              </a:rPr>
              <a:t>월 </a:t>
            </a:r>
            <a:r>
              <a:rPr lang="en-US" altLang="ko-KR" sz="1400" b="0" dirty="0">
                <a:latin typeface="+mn-ea"/>
                <a:ea typeface="+mn-ea"/>
              </a:rPr>
              <a:t>8</a:t>
            </a:r>
            <a:r>
              <a:rPr lang="ko-KR" altLang="en-US" sz="1400" b="0" dirty="0">
                <a:latin typeface="+mn-ea"/>
                <a:ea typeface="+mn-ea"/>
              </a:rPr>
              <a:t>일 </a:t>
            </a:r>
            <a:r>
              <a:rPr lang="en-US" altLang="ko-KR" sz="1400" b="0" dirty="0">
                <a:latin typeface="+mn-ea"/>
                <a:ea typeface="+mn-ea"/>
              </a:rPr>
              <a:t>~ 12</a:t>
            </a:r>
            <a:r>
              <a:rPr lang="ko-KR" altLang="en-US" sz="1400" b="0" dirty="0">
                <a:latin typeface="+mn-ea"/>
                <a:ea typeface="+mn-ea"/>
              </a:rPr>
              <a:t>월 </a:t>
            </a:r>
            <a:r>
              <a:rPr lang="en-US" altLang="ko-KR" sz="1400" b="0" dirty="0">
                <a:latin typeface="+mn-ea"/>
                <a:ea typeface="+mn-ea"/>
              </a:rPr>
              <a:t>5</a:t>
            </a:r>
            <a:r>
              <a:rPr lang="ko-KR" altLang="en-US" sz="1400" b="0" dirty="0">
                <a:latin typeface="+mn-ea"/>
                <a:ea typeface="+mn-ea"/>
              </a:rPr>
              <a:t>일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총 </a:t>
            </a:r>
            <a:r>
              <a:rPr lang="en-US" altLang="ko-KR" sz="1400" b="0" dirty="0">
                <a:latin typeface="+mn-ea"/>
                <a:ea typeface="+mn-ea"/>
              </a:rPr>
              <a:t>18</a:t>
            </a:r>
            <a:r>
              <a:rPr lang="ko-KR" altLang="en-US" sz="1400" b="0" dirty="0">
                <a:latin typeface="+mn-ea"/>
                <a:ea typeface="+mn-ea"/>
              </a:rPr>
              <a:t>시간 이상 이수해야 함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이외 기간의 봉사시간은 성적 산출 시 제외함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하루 최대 인정 시간은 </a:t>
            </a:r>
            <a:r>
              <a:rPr lang="en-US" altLang="ko-KR" sz="1400" b="0" dirty="0">
                <a:latin typeface="+mn-ea"/>
                <a:ea typeface="+mn-ea"/>
              </a:rPr>
              <a:t>6</a:t>
            </a:r>
            <a:r>
              <a:rPr lang="ko-KR" altLang="en-US" sz="1400" b="0" dirty="0">
                <a:latin typeface="+mn-ea"/>
                <a:ea typeface="+mn-ea"/>
              </a:rPr>
              <a:t>시간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장기적이고 지속적인 봉사활동을 권장함</a:t>
            </a:r>
          </a:p>
          <a:p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400" dirty="0">
                <a:latin typeface="+mn-ea"/>
                <a:ea typeface="+mn-ea"/>
              </a:rPr>
              <a:t>봉사활동 확인서 제출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봉사활동 확인서는 봉사계획서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일지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결과보고서와 봉사시간을 모두 확인하는 최종 자료이므로 반드시 제출해야 함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반드시 </a:t>
            </a:r>
            <a:r>
              <a:rPr lang="ko-KR" altLang="en-US" sz="1400" b="0" dirty="0" err="1">
                <a:latin typeface="+mn-ea"/>
                <a:ea typeface="+mn-ea"/>
              </a:rPr>
              <a:t>봉사포털</a:t>
            </a:r>
            <a:r>
              <a:rPr lang="en-US" altLang="ko-KR" sz="1400" b="0" dirty="0">
                <a:latin typeface="+mn-ea"/>
                <a:ea typeface="+mn-ea"/>
              </a:rPr>
              <a:t>(VMS, 1365, DOVOL, </a:t>
            </a:r>
            <a:r>
              <a:rPr lang="ko-KR" altLang="en-US" sz="1400" b="0" dirty="0">
                <a:latin typeface="+mn-ea"/>
                <a:ea typeface="+mn-ea"/>
              </a:rPr>
              <a:t>서울동행</a:t>
            </a:r>
            <a:r>
              <a:rPr lang="en-US" altLang="ko-KR" sz="1400" b="0" dirty="0">
                <a:latin typeface="+mn-ea"/>
                <a:ea typeface="+mn-ea"/>
              </a:rPr>
              <a:t>)</a:t>
            </a:r>
            <a:r>
              <a:rPr lang="ko-KR" altLang="en-US" sz="1400" b="0" dirty="0">
                <a:latin typeface="+mn-ea"/>
                <a:ea typeface="+mn-ea"/>
              </a:rPr>
              <a:t>에서 출력한 원본 제출 </a:t>
            </a:r>
            <a:r>
              <a:rPr lang="en-US" altLang="ko-KR" sz="1400" b="0" dirty="0">
                <a:latin typeface="+mn-ea"/>
                <a:ea typeface="+mn-ea"/>
              </a:rPr>
              <a:t>(</a:t>
            </a:r>
            <a:r>
              <a:rPr lang="ko-KR" altLang="en-US" sz="1400" b="0" dirty="0">
                <a:latin typeface="+mn-ea"/>
                <a:ea typeface="+mn-ea"/>
              </a:rPr>
              <a:t>기타 확인서</a:t>
            </a:r>
            <a:r>
              <a:rPr lang="en-US" altLang="ko-KR" sz="1400" b="0" dirty="0">
                <a:latin typeface="+mn-ea"/>
                <a:ea typeface="+mn-ea"/>
              </a:rPr>
              <a:t>·</a:t>
            </a:r>
            <a:r>
              <a:rPr lang="ko-KR" altLang="en-US" sz="1400" b="0" dirty="0">
                <a:latin typeface="+mn-ea"/>
                <a:ea typeface="+mn-ea"/>
              </a:rPr>
              <a:t>인증서는 불인정</a:t>
            </a:r>
            <a:r>
              <a:rPr lang="en-US" altLang="ko-KR" sz="1400" b="0" dirty="0">
                <a:latin typeface="+mn-ea"/>
                <a:ea typeface="+mn-ea"/>
              </a:rPr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+mn-ea"/>
                <a:ea typeface="+mn-ea"/>
              </a:rPr>
              <a:t>2</a:t>
            </a:r>
            <a:r>
              <a:rPr lang="ko-KR" altLang="en-US" sz="1400" b="0" dirty="0">
                <a:latin typeface="+mn-ea"/>
                <a:ea typeface="+mn-ea"/>
              </a:rPr>
              <a:t>개 이상의 기관 봉사 합산도 인정하나</a:t>
            </a:r>
            <a:r>
              <a:rPr lang="en-US" altLang="ko-KR" sz="1400" b="0" dirty="0">
                <a:latin typeface="+mn-ea"/>
                <a:ea typeface="+mn-ea"/>
              </a:rPr>
              <a:t>, </a:t>
            </a:r>
            <a:r>
              <a:rPr lang="ko-KR" altLang="en-US" sz="1400" b="0" dirty="0">
                <a:latin typeface="+mn-ea"/>
                <a:ea typeface="+mn-ea"/>
              </a:rPr>
              <a:t>제출 확인서에 모든 실적이 포함되어 있어야 함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제출 기한</a:t>
            </a:r>
            <a:r>
              <a:rPr lang="en-US" altLang="ko-KR" sz="1400" b="0" dirty="0">
                <a:latin typeface="+mn-ea"/>
                <a:ea typeface="+mn-ea"/>
              </a:rPr>
              <a:t>: 12</a:t>
            </a:r>
            <a:r>
              <a:rPr lang="ko-KR" altLang="en-US" sz="1400" b="0" dirty="0">
                <a:latin typeface="+mn-ea"/>
                <a:ea typeface="+mn-ea"/>
              </a:rPr>
              <a:t>월 </a:t>
            </a:r>
            <a:r>
              <a:rPr lang="en-US" altLang="ko-KR" sz="1400" b="0" dirty="0">
                <a:latin typeface="+mn-ea"/>
                <a:ea typeface="+mn-ea"/>
              </a:rPr>
              <a:t>8</a:t>
            </a:r>
            <a:r>
              <a:rPr lang="ko-KR" altLang="en-US" sz="1400" b="0" dirty="0">
                <a:latin typeface="+mn-ea"/>
                <a:ea typeface="+mn-ea"/>
              </a:rPr>
              <a:t>일</a:t>
            </a:r>
            <a:r>
              <a:rPr lang="en-US" altLang="ko-KR" sz="1400" b="0" dirty="0">
                <a:latin typeface="+mn-ea"/>
                <a:ea typeface="+mn-ea"/>
              </a:rPr>
              <a:t>(</a:t>
            </a:r>
            <a:r>
              <a:rPr lang="ko-KR" altLang="en-US" sz="1400" b="0" dirty="0">
                <a:latin typeface="+mn-ea"/>
                <a:ea typeface="+mn-ea"/>
              </a:rPr>
              <a:t>월</a:t>
            </a:r>
            <a:r>
              <a:rPr lang="en-US" altLang="ko-KR" sz="1400" b="0" dirty="0">
                <a:latin typeface="+mn-ea"/>
                <a:ea typeface="+mn-ea"/>
              </a:rPr>
              <a:t>)</a:t>
            </a:r>
            <a:r>
              <a:rPr lang="ko-KR" altLang="en-US" sz="1400" b="0" dirty="0">
                <a:latin typeface="+mn-ea"/>
                <a:ea typeface="+mn-ea"/>
              </a:rPr>
              <a:t>까지 </a:t>
            </a:r>
            <a:r>
              <a:rPr lang="en-US" altLang="ko-KR" sz="1400" b="0" dirty="0">
                <a:latin typeface="+mn-ea"/>
                <a:ea typeface="+mn-ea"/>
              </a:rPr>
              <a:t>LMS </a:t>
            </a:r>
            <a:r>
              <a:rPr lang="ko-KR" altLang="en-US" sz="1400" b="0" dirty="0">
                <a:latin typeface="+mn-ea"/>
                <a:ea typeface="+mn-ea"/>
              </a:rPr>
              <a:t>봉사확인서 제출 게시판에 업로드</a:t>
            </a:r>
            <a:endParaRPr lang="en-US" altLang="ko-KR" sz="1400" b="0" dirty="0">
              <a:latin typeface="+mn-ea"/>
              <a:ea typeface="+mn-ea"/>
            </a:endParaRPr>
          </a:p>
          <a:p>
            <a:endParaRPr lang="ko-KR" altLang="en-US" sz="1400" dirty="0">
              <a:latin typeface="+mn-ea"/>
              <a:ea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400" dirty="0">
                <a:latin typeface="+mn-ea"/>
                <a:ea typeface="+mn-ea"/>
              </a:rPr>
              <a:t>봉사기관과의 약속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약정한 봉사시간은 반드시 모두 이수해야 함</a:t>
            </a:r>
            <a:br>
              <a:rPr lang="ko-KR" altLang="en-US" sz="1400" b="0" dirty="0">
                <a:latin typeface="+mn-ea"/>
                <a:ea typeface="+mn-ea"/>
              </a:rPr>
            </a:br>
            <a:r>
              <a:rPr lang="en-US" altLang="ko-KR" sz="1400" b="0" dirty="0">
                <a:latin typeface="+mn-ea"/>
                <a:ea typeface="+mn-ea"/>
              </a:rPr>
              <a:t>(</a:t>
            </a:r>
            <a:r>
              <a:rPr lang="ko-KR" altLang="en-US" sz="1400" b="0" dirty="0">
                <a:latin typeface="+mn-ea"/>
                <a:ea typeface="+mn-ea"/>
              </a:rPr>
              <a:t>예</a:t>
            </a:r>
            <a:r>
              <a:rPr lang="en-US" altLang="ko-KR" sz="1400" b="0" dirty="0">
                <a:latin typeface="+mn-ea"/>
                <a:ea typeface="+mn-ea"/>
              </a:rPr>
              <a:t>: 25</a:t>
            </a:r>
            <a:r>
              <a:rPr lang="ko-KR" altLang="en-US" sz="1400" b="0" dirty="0">
                <a:latin typeface="+mn-ea"/>
                <a:ea typeface="+mn-ea"/>
              </a:rPr>
              <a:t>시간 약정 시 </a:t>
            </a:r>
            <a:r>
              <a:rPr lang="en-US" altLang="ko-KR" sz="1400" b="0" dirty="0">
                <a:latin typeface="+mn-ea"/>
                <a:ea typeface="+mn-ea"/>
              </a:rPr>
              <a:t>18</a:t>
            </a:r>
            <a:r>
              <a:rPr lang="ko-KR" altLang="en-US" sz="1400" b="0" dirty="0">
                <a:latin typeface="+mn-ea"/>
                <a:ea typeface="+mn-ea"/>
              </a:rPr>
              <a:t>시간만 채우고 중단하는 것은 불가</a:t>
            </a:r>
            <a:r>
              <a:rPr lang="en-US" altLang="ko-KR" sz="1400" b="0" dirty="0">
                <a:latin typeface="+mn-ea"/>
                <a:ea typeface="+mn-ea"/>
              </a:rPr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1400" b="0" dirty="0">
                <a:latin typeface="+mn-ea"/>
                <a:ea typeface="+mn-ea"/>
              </a:rPr>
              <a:t>개인 사정으로 봉사일에 결석할 경우</a:t>
            </a:r>
            <a:r>
              <a:rPr lang="en-US" altLang="ko-KR" sz="1400" b="0" dirty="0">
                <a:latin typeface="+mn-ea"/>
                <a:ea typeface="+mn-ea"/>
              </a:rPr>
              <a:t>, </a:t>
            </a:r>
            <a:r>
              <a:rPr lang="ko-KR" altLang="en-US" sz="1400" b="0" dirty="0">
                <a:latin typeface="+mn-ea"/>
                <a:ea typeface="+mn-ea"/>
              </a:rPr>
              <a:t>반드시 기관 담당자에게 사전 양해를 구하고 추후 일정을 조정해야 함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52000" indent="-252000" algn="just" defTabSz="533400" latinLnBrk="0">
              <a:lnSpc>
                <a:spcPct val="150000"/>
              </a:lnSpc>
              <a:spcAft>
                <a:spcPts val="0"/>
              </a:spcAft>
              <a:buBlip>
                <a:blip r:embed="rId7"/>
              </a:buBlip>
              <a:defRPr/>
            </a:pPr>
            <a:endParaRPr kumimoji="0" lang="en-US" altLang="ko-KR" sz="1400" dirty="0">
              <a:solidFill>
                <a:srgbClr val="CC00CC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780939" y="561101"/>
            <a:ext cx="7101110" cy="381002"/>
            <a:chOff x="666750" y="223838"/>
            <a:chExt cx="6266470" cy="381002"/>
          </a:xfrm>
        </p:grpSpPr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 rot="5400000">
              <a:off x="3377047" y="-2483282"/>
              <a:ext cx="377825" cy="5798420"/>
            </a:xfrm>
            <a:prstGeom prst="rect">
              <a:avLst/>
            </a:prstGeom>
            <a:gradFill rotWithShape="0">
              <a:gsLst>
                <a:gs pos="0">
                  <a:srgbClr val="FCF4D8"/>
                </a:gs>
                <a:gs pos="100000">
                  <a:srgbClr val="F6E19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rot="10800000" vert="eaVert" wrap="none" anchor="ctr"/>
            <a:lstStyle/>
            <a:p>
              <a:pPr>
                <a:tabLst>
                  <a:tab pos="430213" algn="l"/>
                </a:tabLst>
              </a:pPr>
              <a:r>
                <a:rPr lang="ko-KR" altLang="en-US" sz="1800">
                  <a:latin typeface="가는각진제목체"/>
                  <a:ea typeface="가는각진제목체"/>
                  <a:cs typeface="가는각진제목체"/>
                </a:rPr>
                <a:t>	</a:t>
              </a:r>
            </a:p>
          </p:txBody>
        </p:sp>
        <p:sp>
          <p:nvSpPr>
            <p:cNvPr id="10" name="Rectangle 47"/>
            <p:cNvSpPr>
              <a:spLocks noChangeArrowheads="1"/>
            </p:cNvSpPr>
            <p:nvPr/>
          </p:nvSpPr>
          <p:spPr bwMode="auto">
            <a:xfrm>
              <a:off x="668338" y="223838"/>
              <a:ext cx="468312" cy="381000"/>
            </a:xfrm>
            <a:prstGeom prst="rect">
              <a:avLst/>
            </a:prstGeom>
            <a:gradFill rotWithShape="0">
              <a:gsLst>
                <a:gs pos="0">
                  <a:srgbClr val="F6E194"/>
                </a:gs>
                <a:gs pos="100000">
                  <a:srgbClr val="BC971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맑은 고딕" pitchFamily="50" charset="-127"/>
                  <a:ea typeface="맑은 고딕" pitchFamily="50" charset="-127"/>
                </a:rPr>
                <a:t>7</a:t>
              </a:r>
            </a:p>
          </p:txBody>
        </p:sp>
        <p:sp>
          <p:nvSpPr>
            <p:cNvPr id="11" name="Text Box 28"/>
            <p:cNvSpPr txBox="1">
              <a:spLocks noChangeArrowheads="1"/>
            </p:cNvSpPr>
            <p:nvPr/>
          </p:nvSpPr>
          <p:spPr bwMode="auto">
            <a:xfrm>
              <a:off x="1136650" y="239713"/>
              <a:ext cx="579657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600">
                  <a:latin typeface="맑은 고딕" pitchFamily="50" charset="-127"/>
                  <a:ea typeface="맑은 고딕" pitchFamily="50" charset="-127"/>
                </a:rPr>
                <a:t>봉사활동 유의사항</a:t>
              </a:r>
              <a:endParaRPr lang="ko-KR" altLang="en-US" sz="16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261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7" y="3429000"/>
            <a:ext cx="12200467" cy="3445933"/>
          </a:xfrm>
          <a:prstGeom prst="rect">
            <a:avLst/>
          </a:prstGeom>
        </p:spPr>
      </p:pic>
      <p:pic>
        <p:nvPicPr>
          <p:cNvPr id="1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67" y="381000"/>
            <a:ext cx="11362267" cy="6104467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88067" cy="999067"/>
          </a:xfrm>
          <a:prstGeom prst="rect">
            <a:avLst/>
          </a:prstGeom>
        </p:spPr>
      </p:pic>
      <p:pic>
        <p:nvPicPr>
          <p:cNvPr id="20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7" y="152193"/>
            <a:ext cx="601133" cy="601133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1244600" y="999066"/>
            <a:ext cx="9504364" cy="4698185"/>
            <a:chOff x="0" y="728700"/>
            <a:chExt cx="9906000" cy="6129300"/>
          </a:xfrm>
        </p:grpSpPr>
        <p:sp>
          <p:nvSpPr>
            <p:cNvPr id="12" name="Rectangle 2"/>
            <p:cNvSpPr>
              <a:spLocks noChangeArrowheads="1"/>
            </p:cNvSpPr>
            <p:nvPr/>
          </p:nvSpPr>
          <p:spPr bwMode="auto">
            <a:xfrm flipV="1">
              <a:off x="0" y="1628800"/>
              <a:ext cx="9906000" cy="52292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8E7F4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/>
                <a:t> </a:t>
              </a:r>
              <a:endParaRPr lang="ko-KR" altLang="en-US" dirty="0"/>
            </a:p>
          </p:txBody>
        </p:sp>
        <p:sp>
          <p:nvSpPr>
            <p:cNvPr id="13" name="Rectangle 2"/>
            <p:cNvSpPr>
              <a:spLocks noChangeArrowheads="1"/>
            </p:cNvSpPr>
            <p:nvPr/>
          </p:nvSpPr>
          <p:spPr bwMode="auto">
            <a:xfrm>
              <a:off x="0" y="728700"/>
              <a:ext cx="9906000" cy="9001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8E7F4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ko-KR" altLang="en-US"/>
                <a:t> </a:t>
              </a:r>
              <a:endParaRPr lang="ko-KR" altLang="en-US" dirty="0"/>
            </a:p>
          </p:txBody>
        </p:sp>
      </p:grp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28726" y="1909764"/>
            <a:ext cx="5587355" cy="7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8189" y="3436939"/>
            <a:ext cx="7470775" cy="9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Rectangle 2"/>
          <p:cNvSpPr>
            <a:spLocks noChangeArrowheads="1"/>
          </p:cNvSpPr>
          <p:nvPr/>
        </p:nvSpPr>
        <p:spPr bwMode="auto">
          <a:xfrm>
            <a:off x="1143000" y="1906589"/>
            <a:ext cx="3297238" cy="2268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6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endParaRPr lang="ko-KR" altLang="en-US">
              <a:ea typeface="맑은 고딕" pitchFamily="50" charset="-127"/>
            </a:endParaRP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4440239" y="1906589"/>
            <a:ext cx="6624637" cy="2268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6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endParaRPr lang="ko-KR" altLang="en-US">
              <a:ea typeface="맑은 고딕" pitchFamily="50" charset="-127"/>
            </a:endParaRPr>
          </a:p>
        </p:txBody>
      </p:sp>
      <p:sp>
        <p:nvSpPr>
          <p:cNvPr id="3079" name="Text Box 11"/>
          <p:cNvSpPr txBox="1">
            <a:spLocks noChangeArrowheads="1"/>
          </p:cNvSpPr>
          <p:nvPr/>
        </p:nvSpPr>
        <p:spPr bwMode="auto">
          <a:xfrm>
            <a:off x="1418084" y="2240869"/>
            <a:ext cx="9502452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800">
                <a:latin typeface="맑은 고딕" pitchFamily="50" charset="-127"/>
                <a:ea typeface="맑은 고딕" pitchFamily="50" charset="-127"/>
              </a:rPr>
              <a:t>2025-2 </a:t>
            </a:r>
            <a:r>
              <a:rPr kumimoji="0" lang="ko-KR" altLang="en-US" sz="2800" dirty="0">
                <a:latin typeface="맑은 고딕" pitchFamily="50" charset="-127"/>
                <a:ea typeface="맑은 고딕" pitchFamily="50" charset="-127"/>
              </a:rPr>
              <a:t>섬김의 리더십 </a:t>
            </a:r>
            <a:endParaRPr kumimoji="0" lang="en-US" altLang="ko-KR" sz="2800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kumimoji="0" lang="ko-KR" altLang="en-US" sz="2800">
                <a:latin typeface="맑은 고딕" pitchFamily="50" charset="-127"/>
                <a:ea typeface="맑은 고딕" pitchFamily="50" charset="-127"/>
              </a:rPr>
              <a:t>봉사활동 프로그램 신청하기</a:t>
            </a:r>
            <a:endParaRPr kumimoji="0" lang="en-US" altLang="ko-KR" sz="2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0" name="Rectangle 12"/>
          <p:cNvSpPr>
            <a:spLocks noChangeArrowheads="1"/>
          </p:cNvSpPr>
          <p:nvPr/>
        </p:nvSpPr>
        <p:spPr bwMode="auto">
          <a:xfrm>
            <a:off x="7013575" y="4302125"/>
            <a:ext cx="3473450" cy="279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defTabSz="939800">
              <a:lnSpc>
                <a:spcPct val="90000"/>
              </a:lnSpc>
              <a:spcBef>
                <a:spcPct val="60000"/>
              </a:spcBef>
              <a:buClr>
                <a:schemeClr val="tx1"/>
              </a:buClr>
              <a:buSzPct val="90000"/>
            </a:pPr>
            <a:endParaRPr kumimoji="0" lang="en-US" altLang="ko-KR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1" name="Line 13"/>
          <p:cNvSpPr>
            <a:spLocks noChangeShapeType="1"/>
          </p:cNvSpPr>
          <p:nvPr/>
        </p:nvSpPr>
        <p:spPr bwMode="auto">
          <a:xfrm>
            <a:off x="1143000" y="1882775"/>
            <a:ext cx="9906000" cy="0"/>
          </a:xfrm>
          <a:prstGeom prst="line">
            <a:avLst/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86146" y="4302125"/>
            <a:ext cx="86212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봉사활동 봉사포털(VMS, 1365, DOVOL, 서울 동행)을 통</a:t>
            </a:r>
            <a:r>
              <a:rPr kumimoji="0" lang="ko-KR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한 온라인 </a:t>
            </a:r>
            <a:endParaRPr kumimoji="0" lang="en-US" altLang="ko-KR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000"/>
              <a:t>또는</a:t>
            </a:r>
            <a:r>
              <a:rPr lang="en-US" altLang="ko-KR" sz="2000"/>
              <a:t> </a:t>
            </a:r>
            <a:r>
              <a:rPr lang="ko-KR" altLang="en-US" sz="2000"/>
              <a:t>봉사포털에 등록된 기관을 직접 방문하여 오프라인으로 신청할 수 있음</a:t>
            </a:r>
            <a:endParaRPr kumimoji="0" lang="ko-KR" altLang="ko-K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84034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">
  <a:themeElements>
    <a:clrScheme name="default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">
      <a:majorFont>
        <a:latin typeface="Times New Roman"/>
        <a:ea typeface="헤드라인"/>
        <a:cs typeface=""/>
      </a:majorFont>
      <a:minorFont>
        <a:latin typeface="바탕체"/>
        <a:ea typeface="바탕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699" cap="flat" cmpd="sng" algn="ctr">
          <a:solidFill>
            <a:schemeClr val="accent1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휴먼태엑스포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699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휴먼태엑스포" pitchFamily="18" charset="-127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75899</TotalTime>
  <Words>779</Words>
  <Application>Microsoft Office PowerPoint</Application>
  <PresentationFormat>와이드스크린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10</vt:i4>
      </vt:variant>
    </vt:vector>
  </HeadingPairs>
  <TitlesOfParts>
    <vt:vector size="25" baseType="lpstr">
      <vt:lpstr>가는각진제목체</vt:lpstr>
      <vt:lpstr>굴림</vt:lpstr>
      <vt:lpstr>맑은 고딕</vt:lpstr>
      <vt:lpstr>헤드라인</vt:lpstr>
      <vt:lpstr>휴먼태엑스포</vt:lpstr>
      <vt:lpstr>Arial</vt:lpstr>
      <vt:lpstr>Calibri</vt:lpstr>
      <vt:lpstr>Symbol</vt:lpstr>
      <vt:lpstr>Times New Roman</vt:lpstr>
      <vt:lpstr>Trebuchet MS</vt:lpstr>
      <vt:lpstr>Wingdings</vt:lpstr>
      <vt:lpstr>default</vt:lpstr>
      <vt:lpstr>1_디자인 사용자 지정</vt:lpstr>
      <vt:lpstr>디자인 사용자 지정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Cho</dc:creator>
  <cp:lastModifiedBy>최춘화</cp:lastModifiedBy>
  <cp:revision>6269</cp:revision>
  <cp:lastPrinted>2016-02-15T02:28:34Z</cp:lastPrinted>
  <dcterms:created xsi:type="dcterms:W3CDTF">2007-05-31T16:48:26Z</dcterms:created>
  <dcterms:modified xsi:type="dcterms:W3CDTF">2025-08-31T11:34:28Z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OA_Template">
    <vt:lpwstr>MMC Standard.pot</vt:lpwstr>
  </property>
  <property fmtid="{D5CDD505-2E9C-101B-9397-08002B2CF9AE}" pid="3" name="MMCOA_TemplateVersion">
    <vt:lpwstr>4.5</vt:lpwstr>
  </property>
  <property fmtid="{D5CDD505-2E9C-101B-9397-08002B2CF9AE}" pid="4" name="MMCOA_OriginalScheme">
    <vt:lpwstr> 1</vt:lpwstr>
  </property>
  <property fmtid="{D5CDD505-2E9C-101B-9397-08002B2CF9AE}" pid="5" name="MMCOA_FontSize">
    <vt:lpwstr>Medium</vt:lpwstr>
  </property>
  <property fmtid="{D5CDD505-2E9C-101B-9397-08002B2CF9AE}" pid="6" name="MMCOA_PPLT">
    <vt:lpwstr>LT|21080720142322909|PowerPoint</vt:lpwstr>
  </property>
</Properties>
</file>